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5E519BB-908C-7054-988E-A737C8B42486}">
          <p14:sldIdLst>
            <p14:sldId id="256"/>
          </p14:sldIdLst>
        </p14:section>
        <p14:section name="Introduction" id="{FB74DDAE-A495-2556-DB12-0BFA8BE163F3}">
          <p14:sldIdLst>
            <p14:sldId id="259"/>
            <p14:sldId id="260"/>
            <p14:sldId id="261"/>
          </p14:sldIdLst>
        </p14:section>
        <p14:section name="Design" id="{3170D106-C7CB-F10D-B84B-7D18C87C541F}">
          <p14:sldIdLst>
            <p14:sldId id="262"/>
            <p14:sldId id="263"/>
            <p14:sldId id="264"/>
          </p14:sldIdLst>
        </p14:section>
        <p14:section name="Data &amp; Modules" id="{CCC749E1-25E2-0FF7-5765-91348A529919}">
          <p14:sldIdLst>
            <p14:sldId id="265"/>
            <p14:sldId id="266"/>
            <p14:sldId id="267"/>
          </p14:sldIdLst>
        </p14:section>
        <p14:section name="Implementation" id="{345CE970-9249-0A84-2059-6D87FD76B9A6}">
          <p14:sldIdLst>
            <p14:sldId id="268"/>
            <p14:sldId id="269"/>
            <p14:sldId id="270"/>
          </p14:sldIdLst>
        </p14:section>
        <p14:section name="Results" id="{D5D51475-46C5-7E36-47B8-2EA0AD9A178F}">
          <p14:sldIdLst>
            <p14:sldId id="271"/>
            <p14:sldId id="272"/>
            <p14:sldId id="273"/>
          </p14:sldIdLst>
        </p14:section>
        <p14:section name="Wrap-up" id="{1355F605-AFD4-FF77-F015-35620F12C2F6}">
          <p14:sldIdLst>
            <p14:sldId id="274"/>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62" autoAdjust="0"/>
    <p:restoredTop sz="94610"/>
  </p:normalViewPr>
  <p:slideViewPr>
    <p:cSldViewPr snapToGrid="0" snapToObjects="1">
      <p:cViewPr>
        <p:scale>
          <a:sx n="92" d="100"/>
          <a:sy n="92" d="100"/>
        </p:scale>
        <p:origin x="10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1F2A"/>
                </a:solidFill>
                <a:latin typeface="+mn-lt"/>
              </a:defRPr>
            </a:pPr>
            <a:r>
              <a:rPr lang="en-IN" sz="1400" b="0" i="0" u="none" strike="noStrike">
                <a:solidFill>
                  <a:srgbClr val="1B1F2A"/>
                </a:solidFill>
                <a:latin typeface="+mn-lt"/>
              </a:rPr>
              <a:t>Model comparison (illustrative values)</a:t>
            </a:r>
          </a:p>
        </c:rich>
      </c:tx>
      <c:overlay val="0"/>
    </c:title>
    <c:autoTitleDeleted val="0"/>
    <c:plotArea>
      <c:layout/>
      <c:barChart>
        <c:barDir val="col"/>
        <c:grouping val="clustered"/>
        <c:varyColors val="0"/>
        <c:ser>
          <c:idx val="0"/>
          <c:order val="0"/>
          <c:tx>
            <c:strRef>
              <c:f>Sheet1!$B$1</c:f>
              <c:strCache>
                <c:ptCount val="1"/>
                <c:pt idx="0">
                  <c:v>Model A</c:v>
                </c:pt>
              </c:strCache>
            </c:strRef>
          </c:tx>
          <c:spPr>
            <a:solidFill>
              <a:srgbClr val="3E7CB1"/>
            </a:solidFill>
            <a:effectLst/>
          </c:spPr>
          <c:invertIfNegative val="0"/>
          <c:dLbls>
            <c:numFmt formatCode="0.00" sourceLinked="0"/>
            <c:spPr>
              <a:noFill/>
              <a:ln>
                <a:noFill/>
              </a:ln>
              <a:effectLst/>
            </c:spPr>
            <c:txPr>
              <a:bodyPr/>
              <a:lstStyle/>
              <a:p>
                <a:pPr>
                  <a:defRPr sz="1000" b="0" i="0" u="none" strike="noStrike">
                    <a:solidFill>
                      <a:srgbClr val="1B1F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Accuracy</c:v>
                </c:pt>
                <c:pt idx="1">
                  <c:v>Precision</c:v>
                </c:pt>
                <c:pt idx="2">
                  <c:v>Recall</c:v>
                </c:pt>
                <c:pt idx="3">
                  <c:v>F1-score</c:v>
                </c:pt>
              </c:strCache>
            </c:strRef>
          </c:cat>
          <c:val>
            <c:numRef>
              <c:f>Sheet1!$B$2:$B$5</c:f>
              <c:numCache>
                <c:formatCode>General</c:formatCode>
                <c:ptCount val="4"/>
                <c:pt idx="0">
                  <c:v>0.62</c:v>
                </c:pt>
                <c:pt idx="1">
                  <c:v>0.6</c:v>
                </c:pt>
                <c:pt idx="2">
                  <c:v>0.57999999999999996</c:v>
                </c:pt>
                <c:pt idx="3">
                  <c:v>0.59</c:v>
                </c:pt>
              </c:numCache>
            </c:numRef>
          </c:val>
          <c:extLst>
            <c:ext xmlns:c16="http://schemas.microsoft.com/office/drawing/2014/chart" uri="{C3380CC4-5D6E-409C-BE32-E72D297353CC}">
              <c16:uniqueId val="{00000000-21D2-449D-8701-33D79E2E6B45}"/>
            </c:ext>
          </c:extLst>
        </c:ser>
        <c:ser>
          <c:idx val="1"/>
          <c:order val="1"/>
          <c:tx>
            <c:strRef>
              <c:f>Sheet1!$C$1</c:f>
              <c:strCache>
                <c:ptCount val="1"/>
                <c:pt idx="0">
                  <c:v>Model B</c:v>
                </c:pt>
              </c:strCache>
            </c:strRef>
          </c:tx>
          <c:spPr>
            <a:solidFill>
              <a:srgbClr val="E58E2A"/>
            </a:solidFill>
            <a:effectLst/>
          </c:spPr>
          <c:invertIfNegative val="0"/>
          <c:dLbls>
            <c:numFmt formatCode="0.00" sourceLinked="0"/>
            <c:spPr>
              <a:noFill/>
              <a:ln>
                <a:noFill/>
              </a:ln>
              <a:effectLst/>
            </c:spPr>
            <c:txPr>
              <a:bodyPr/>
              <a:lstStyle/>
              <a:p>
                <a:pPr>
                  <a:defRPr sz="1000" b="0" i="0" u="none" strike="noStrike">
                    <a:solidFill>
                      <a:srgbClr val="1B1F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Accuracy</c:v>
                </c:pt>
                <c:pt idx="1">
                  <c:v>Precision</c:v>
                </c:pt>
                <c:pt idx="2">
                  <c:v>Recall</c:v>
                </c:pt>
                <c:pt idx="3">
                  <c:v>F1-score</c:v>
                </c:pt>
              </c:strCache>
            </c:strRef>
          </c:cat>
          <c:val>
            <c:numRef>
              <c:f>Sheet1!$C$2:$C$5</c:f>
              <c:numCache>
                <c:formatCode>General</c:formatCode>
                <c:ptCount val="4"/>
                <c:pt idx="0">
                  <c:v>0.7</c:v>
                </c:pt>
                <c:pt idx="1">
                  <c:v>0.68</c:v>
                </c:pt>
                <c:pt idx="2">
                  <c:v>0.66</c:v>
                </c:pt>
                <c:pt idx="3">
                  <c:v>0.67</c:v>
                </c:pt>
              </c:numCache>
            </c:numRef>
          </c:val>
          <c:extLst>
            <c:ext xmlns:c16="http://schemas.microsoft.com/office/drawing/2014/chart" uri="{C3380CC4-5D6E-409C-BE32-E72D297353CC}">
              <c16:uniqueId val="{00000001-21D2-449D-8701-33D79E2E6B45}"/>
            </c:ext>
          </c:extLst>
        </c:ser>
        <c:ser>
          <c:idx val="2"/>
          <c:order val="2"/>
          <c:tx>
            <c:strRef>
              <c:f>Sheet1!$D$1</c:f>
              <c:strCache>
                <c:ptCount val="1"/>
                <c:pt idx="0">
                  <c:v>Model C</c:v>
                </c:pt>
              </c:strCache>
            </c:strRef>
          </c:tx>
          <c:spPr>
            <a:solidFill>
              <a:srgbClr val="0B7A75"/>
            </a:solidFill>
            <a:effectLst/>
          </c:spPr>
          <c:invertIfNegative val="0"/>
          <c:dLbls>
            <c:numFmt formatCode="0.00" sourceLinked="0"/>
            <c:spPr>
              <a:noFill/>
              <a:ln>
                <a:noFill/>
              </a:ln>
              <a:effectLst/>
            </c:spPr>
            <c:txPr>
              <a:bodyPr/>
              <a:lstStyle/>
              <a:p>
                <a:pPr>
                  <a:defRPr sz="1000" b="0" i="0" u="none" strike="noStrike">
                    <a:solidFill>
                      <a:srgbClr val="1B1F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Accuracy</c:v>
                </c:pt>
                <c:pt idx="1">
                  <c:v>Precision</c:v>
                </c:pt>
                <c:pt idx="2">
                  <c:v>Recall</c:v>
                </c:pt>
                <c:pt idx="3">
                  <c:v>F1-score</c:v>
                </c:pt>
              </c:strCache>
            </c:strRef>
          </c:cat>
          <c:val>
            <c:numRef>
              <c:f>Sheet1!$D$2:$D$5</c:f>
              <c:numCache>
                <c:formatCode>General</c:formatCode>
                <c:ptCount val="4"/>
                <c:pt idx="0">
                  <c:v>0.78</c:v>
                </c:pt>
                <c:pt idx="1">
                  <c:v>0.76</c:v>
                </c:pt>
                <c:pt idx="2">
                  <c:v>0.74</c:v>
                </c:pt>
                <c:pt idx="3">
                  <c:v>0.75</c:v>
                </c:pt>
              </c:numCache>
            </c:numRef>
          </c:val>
          <c:extLst>
            <c:ext xmlns:c16="http://schemas.microsoft.com/office/drawing/2014/chart" uri="{C3380CC4-5D6E-409C-BE32-E72D297353CC}">
              <c16:uniqueId val="{00000002-21D2-449D-8701-33D79E2E6B4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F2A"/>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D9E1E8"/>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B1F2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1F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4205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Replace all bracketed text. Use the full project title, list every team member with registration number, and name your guide. Insert the institution logo in the dashed box.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domain, the exact problem and why it matters. Keep it to about 2 minutes. Add one real-world statistic if you can, with a citation.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should be measurable and start with action verbs. The scope slide tells the panel what you did and did not attempt.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four to six relevant papers or existing systems. End with the research gap, because that gap justifies your project.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steps left to right. Rename the steps to match your project (for example, Requirement Analysis, Design, Coding, Testing, Deployment). End with your novelty.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 a clear block diagram: input, processing, storage, output. Number each block and explain them on the right. Redraw the figure yourself rather than copying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only what you actually used, with versions. For a pure software project, shorten the hardware list and add cloud or deployment resources.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where the data came from and what it contains. Show a screenshot of the first rows or the info summary. For non-data projects, replace this slide with “Requirement Analysis” or “Input Specification”.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two or three plots that tell a story: distributions, correlations, outliers. Explain what each plot told you and what you did about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 the project into three to five modules. For each, state its purpose, inputs, outputs and who built it. Duplicate a card if you have more modules.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each model, algorithm or technology, say why you chose it, and list the key settings. Then explain how you picked the final one.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build in the order you did it. Paste only the most important code or pseudocode, not entire files. For hardware projects, show the circuit or wiring summary instead.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real screenshots, photos of the hardware or a short demo video link. Caption each one with what the viewer should notice.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Right-click the chart and choose Edit Data to enter your real numbers. Replace the metrics with the ones that fit your project (accuracy, latency, power, throughput, user rating). State clearly which option performed best.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what the numbers mean. Use a confusion matrix, ROC curve, feature-importance chart or output comparison. Be honest about weak results; panels value that.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representative test cases with expected and actual outcomes. Name the validation methods you used. Delete rows you do not need.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Pair every challenge with how you solved it, and list limitations that the panel would otherwise spot themselves.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Revisit each objective and say whether you met it. Quote your headline result with numbers. Do not introduce new material here.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concrete next steps, ideally tied to the limitations. Then name two or three real-world uses.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work was planned and shared. Every member should be able to explain their own module.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IEEE style, numbered in order of first citation in the deck. Include datasets, documentation and code repositories.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during questions. Make sure every team member can answer questions about their own module.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[Project Title]  |  [Department]  |  Final Project Review</a:t>
            </a:r>
            <a:endParaRPr lang="en-US" sz="1000" dirty="0"/>
          </a:p>
        </p:txBody>
      </p:sp>
      <p:sp>
        <p:nvSpPr>
          <p:cNvPr id="3" name="Text 1"/>
          <p:cNvSpPr>
            <a:spLocks noGrp="1"/>
          </p:cNvSpPr>
          <p:nvPr>
            <p:ph type="title" idx="101" hasCustomPrompt="1"/>
          </p:nvPr>
        </p:nvSpPr>
        <p:spPr>
          <a:xfrm>
            <a:off x="548640" y="365760"/>
            <a:ext cx="11091672" cy="77724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r>
              <a:rPr lang="en-US" sz="3200" b="1" dirty="0">
                <a:solidFill>
                  <a:schemeClr val="tx2"/>
                </a:solidFill>
              </a:rPr>
              <a:t>Slide Title</a:t>
            </a:r>
            <a:endParaRPr lang="en-US" sz="3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txBody>
          <a:bodyPr/>
          <a:lstStyle/>
          <a:p>
            <a:endParaRPr lang="en-IN"/>
          </a:p>
        </p:txBody>
      </p:sp>
      <p:pic>
        <p:nvPicPr>
          <p:cNvPr id="3" name="Image 0" descr="circles.png"/>
          <p:cNvPicPr>
            <a:picLocks noChangeAspect="1"/>
          </p:cNvPicPr>
          <p:nvPr/>
        </p:nvPicPr>
        <p:blipFill>
          <a:blip r:embed="rId2"/>
          <a:stretch>
            <a:fillRect/>
          </a:stretch>
        </p:blipFill>
        <p:spPr>
          <a:xfrm>
            <a:off x="0" y="0"/>
            <a:ext cx="12188952" cy="6858000"/>
          </a:xfrm>
          <a:prstGeom prst="rect">
            <a:avLst/>
          </a:prstGeom>
        </p:spPr>
      </p:pic>
      <p:sp>
        <p:nvSpPr>
          <p:cNvPr id="4" name="Text 1"/>
          <p:cNvSpPr>
            <a:spLocks noGrp="1"/>
          </p:cNvSpPr>
          <p:nvPr>
            <p:ph type="title" idx="102" hasCustomPrompt="1"/>
          </p:nvPr>
        </p:nvSpPr>
        <p:spPr>
          <a:xfrm>
            <a:off x="731520" y="1554480"/>
            <a:ext cx="7680960" cy="1737360"/>
          </a:xfrm>
          <a:prstGeom prst="rect">
            <a:avLst/>
          </a:prstGeom>
          <a:noFill/>
          <a:ln/>
        </p:spPr>
        <p:txBody>
          <a:bodyPr wrap="square" rtlCol="0"/>
          <a:lstStyle>
            <a:lvl1pPr marL="0" indent="0" algn="l">
              <a:buNone/>
              <a:defRPr lang="en-US" sz="3800" b="1" dirty="0">
                <a:solidFill>
                  <a:schemeClr val="bg1"/>
                </a:solidFill>
              </a:defRPr>
            </a:lvl1pPr>
          </a:lstStyle>
          <a:p>
            <a:pPr marL="0" indent="0" algn="l">
              <a:buNone/>
            </a:pPr>
            <a:r>
              <a:rPr lang="en-US" sz="3800" b="1" dirty="0">
                <a:solidFill>
                  <a:schemeClr val="bg1"/>
                </a:solidFill>
              </a:rPr>
              <a:t>[PROJECT TITLE]</a:t>
            </a:r>
            <a:endParaRPr lang="en-US" sz="3800" dirty="0"/>
          </a:p>
        </p:txBody>
      </p:sp>
      <p:sp>
        <p:nvSpPr>
          <p:cNvPr id="5" name="Text 1"/>
          <p:cNvSpPr>
            <a:spLocks noGrp="1"/>
          </p:cNvSpPr>
          <p:nvPr>
            <p:ph type="body" idx="103" hasCustomPrompt="1"/>
          </p:nvPr>
        </p:nvSpPr>
        <p:spPr>
          <a:xfrm>
            <a:off x="731520" y="3474720"/>
            <a:ext cx="7680960" cy="457200"/>
          </a:xfrm>
          <a:prstGeom prst="rect">
            <a:avLst/>
          </a:prstGeom>
          <a:noFill/>
          <a:ln/>
        </p:spPr>
        <p:txBody>
          <a:bodyPr wrap="square" rtlCol="0"/>
          <a:lstStyle>
            <a:lvl1pPr marL="0" indent="0">
              <a:buNone/>
              <a:defRPr lang="en-US" sz="1800" dirty="0">
                <a:solidFill>
                  <a:schemeClr val="bg2"/>
                </a:solidFill>
              </a:defRPr>
            </a:lvl1pPr>
          </a:lstStyle>
          <a:p>
            <a:pPr marL="0" indent="0">
              <a:buNone/>
            </a:pPr>
            <a:r>
              <a:rPr lang="en-US" sz="1800" dirty="0">
                <a:solidFill>
                  <a:schemeClr val="bg2"/>
                </a:solidFill>
              </a:rPr>
              <a:t>[Subtitle]</a:t>
            </a:r>
            <a:endParaRPr lang="en-US" sz="1800" dirty="0"/>
          </a:p>
        </p:txBody>
      </p:sp>
      <p:sp>
        <p:nvSpPr>
          <p:cNvPr id="6" name="Text 1"/>
          <p:cNvSpPr>
            <a:spLocks noGrp="1"/>
          </p:cNvSpPr>
          <p:nvPr>
            <p:ph type="body" idx="104" hasCustomPrompt="1"/>
          </p:nvPr>
        </p:nvSpPr>
        <p:spPr>
          <a:xfrm>
            <a:off x="731520" y="4206240"/>
            <a:ext cx="6949440" cy="1920240"/>
          </a:xfrm>
          <a:prstGeom prst="rect">
            <a:avLst/>
          </a:prstGeom>
          <a:noFill/>
          <a:ln/>
        </p:spPr>
        <p:txBody>
          <a:bodyPr wrap="square" rtlCol="0"/>
          <a:lstStyle>
            <a:lvl1pPr marL="0" indent="0">
              <a:buNone/>
              <a:defRPr lang="en-US" sz="1600" dirty="0">
                <a:solidFill>
                  <a:schemeClr val="bg1"/>
                </a:solidFill>
              </a:defRPr>
            </a:lvl1pPr>
          </a:lstStyle>
          <a:p>
            <a:pPr marL="0" indent="0">
              <a:buNone/>
            </a:pPr>
            <a:r>
              <a:rPr lang="en-US" sz="1600" dirty="0">
                <a:solidFill>
                  <a:schemeClr val="bg1"/>
                </a:solidFill>
              </a:rPr>
              <a:t>[Team]</a:t>
            </a: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txBody>
          <a:bodyPr/>
          <a:lstStyle/>
          <a:p>
            <a:endParaRPr lang="en-IN"/>
          </a:p>
        </p:txBody>
      </p:sp>
      <p:pic>
        <p:nvPicPr>
          <p:cNvPr id="3" name="Image 0" descr="circles.png"/>
          <p:cNvPicPr>
            <a:picLocks noChangeAspect="1"/>
          </p:cNvPicPr>
          <p:nvPr/>
        </p:nvPicPr>
        <p:blipFill>
          <a:blip r:embed="rId2"/>
          <a:stretch>
            <a:fillRect/>
          </a:stretch>
        </p:blipFill>
        <p:spPr>
          <a:xfrm>
            <a:off x="0" y="0"/>
            <a:ext cx="12188952" cy="6858000"/>
          </a:xfrm>
          <a:prstGeom prst="rect">
            <a:avLst/>
          </a:prstGeom>
        </p:spPr>
      </p:pic>
      <p:sp>
        <p:nvSpPr>
          <p:cNvPr id="4" name="Text 1"/>
          <p:cNvSpPr>
            <a:spLocks noGrp="1"/>
          </p:cNvSpPr>
          <p:nvPr>
            <p:ph type="title" idx="102" hasCustomPrompt="1"/>
          </p:nvPr>
        </p:nvSpPr>
        <p:spPr>
          <a:xfrm>
            <a:off x="731520" y="2011680"/>
            <a:ext cx="7680960" cy="1188720"/>
          </a:xfrm>
          <a:prstGeom prst="rect">
            <a:avLst/>
          </a:prstGeom>
          <a:noFill/>
          <a:ln/>
        </p:spPr>
        <p:txBody>
          <a:bodyPr wrap="square" rtlCol="0"/>
          <a:lstStyle>
            <a:lvl1pPr marL="0" indent="0" algn="l">
              <a:buNone/>
              <a:defRPr lang="en-US" sz="5400" b="1" dirty="0">
                <a:solidFill>
                  <a:schemeClr val="bg1"/>
                </a:solidFill>
              </a:defRPr>
            </a:lvl1pPr>
          </a:lstStyle>
          <a:p>
            <a:pPr marL="0" indent="0" algn="l">
              <a:buNone/>
            </a:pPr>
            <a:r>
              <a:rPr lang="en-US" sz="5400" b="1" dirty="0">
                <a:solidFill>
                  <a:schemeClr val="bg1"/>
                </a:solidFill>
              </a:rPr>
              <a:t>THANK YOU</a:t>
            </a:r>
            <a:endParaRPr lang="en-US" sz="5400" dirty="0"/>
          </a:p>
        </p:txBody>
      </p:sp>
      <p:sp>
        <p:nvSpPr>
          <p:cNvPr id="5" name="Text 1"/>
          <p:cNvSpPr>
            <a:spLocks noGrp="1"/>
          </p:cNvSpPr>
          <p:nvPr>
            <p:ph type="body" idx="103" hasCustomPrompt="1"/>
          </p:nvPr>
        </p:nvSpPr>
        <p:spPr>
          <a:xfrm>
            <a:off x="731520" y="3383280"/>
            <a:ext cx="7680960" cy="548640"/>
          </a:xfrm>
          <a:prstGeom prst="rect">
            <a:avLst/>
          </a:prstGeom>
          <a:noFill/>
          <a:ln/>
        </p:spPr>
        <p:txBody>
          <a:bodyPr wrap="square" rtlCol="0"/>
          <a:lstStyle>
            <a:lvl1pPr marL="0" indent="0">
              <a:buNone/>
              <a:defRPr lang="en-US" sz="2400" dirty="0">
                <a:solidFill>
                  <a:schemeClr val="bg2"/>
                </a:solidFill>
              </a:defRPr>
            </a:lvl1pPr>
          </a:lstStyle>
          <a:p>
            <a:pPr marL="0" indent="0">
              <a:buNone/>
            </a:pPr>
            <a:r>
              <a:rPr lang="en-US" sz="2400" dirty="0">
                <a:solidFill>
                  <a:schemeClr val="bg2"/>
                </a:solidFill>
              </a:rPr>
              <a:t>Questions</a:t>
            </a:r>
            <a:endParaRPr lang="en-US" sz="2400" dirty="0"/>
          </a:p>
        </p:txBody>
      </p:sp>
      <p:sp>
        <p:nvSpPr>
          <p:cNvPr id="6" name="Text 1"/>
          <p:cNvSpPr>
            <a:spLocks noGrp="1"/>
          </p:cNvSpPr>
          <p:nvPr>
            <p:ph type="body" idx="104" hasCustomPrompt="1"/>
          </p:nvPr>
        </p:nvSpPr>
        <p:spPr>
          <a:xfrm>
            <a:off x="731520" y="4297680"/>
            <a:ext cx="6949440" cy="1463040"/>
          </a:xfrm>
          <a:prstGeom prst="rect">
            <a:avLst/>
          </a:prstGeom>
          <a:noFill/>
          <a:ln/>
        </p:spPr>
        <p:txBody>
          <a:bodyPr wrap="square" rtlCol="0"/>
          <a:lstStyle>
            <a:lvl1pPr marL="0" indent="0">
              <a:buNone/>
              <a:defRPr lang="en-US" sz="1600" dirty="0">
                <a:solidFill>
                  <a:schemeClr val="bg1"/>
                </a:solidFill>
              </a:defRPr>
            </a:lvl1pPr>
          </a:lstStyle>
          <a:p>
            <a:pPr marL="0" indent="0">
              <a:buNone/>
            </a:pPr>
            <a:r>
              <a:rPr lang="en-US" sz="1600" dirty="0">
                <a:solidFill>
                  <a:schemeClr val="bg1"/>
                </a:solidFill>
              </a:rPr>
              <a:t>Contact</a:t>
            </a: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chart" Target="../charts/char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0.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9.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731520" y="1554480"/>
            <a:ext cx="7680960" cy="1737360"/>
          </a:xfrm>
          <a:prstGeom prst="rect">
            <a:avLst/>
          </a:prstGeom>
          <a:noFill/>
          <a:ln/>
        </p:spPr>
        <p:txBody>
          <a:bodyPr wrap="square" lIns="0" tIns="0" rIns="0" bIns="0" rtlCol="0" anchor="b"/>
          <a:lstStyle/>
          <a:p>
            <a:pPr marL="0" indent="0" algn="l">
              <a:buNone/>
            </a:pPr>
            <a:r>
              <a:rPr lang="en-US" sz="3800" b="1" dirty="0">
                <a:solidFill>
                  <a:schemeClr val="bg1"/>
                </a:solidFill>
              </a:rPr>
              <a:t>AI-BASED RESUME SCREENING SYSTEM</a:t>
            </a:r>
            <a:endParaRPr lang="en-US" sz="3800" dirty="0"/>
          </a:p>
        </p:txBody>
      </p:sp>
      <p:sp>
        <p:nvSpPr>
          <p:cNvPr id="3" name="Text 1"/>
          <p:cNvSpPr>
            <a:spLocks noGrp="1"/>
          </p:cNvSpPr>
          <p:nvPr>
            <p:ph type="body" idx="103" hasCustomPrompt="1"/>
          </p:nvPr>
        </p:nvSpPr>
        <p:spPr>
          <a:xfrm>
            <a:off x="731520" y="3474720"/>
            <a:ext cx="7680960" cy="457200"/>
          </a:xfrm>
          <a:prstGeom prst="rect">
            <a:avLst/>
          </a:prstGeom>
          <a:noFill/>
          <a:ln/>
        </p:spPr>
        <p:txBody>
          <a:bodyPr wrap="square" lIns="0" tIns="0" rIns="0" bIns="0" rtlCol="0"/>
          <a:lstStyle/>
          <a:p>
            <a:pPr marL="0" indent="0">
              <a:buNone/>
            </a:pPr>
            <a:r>
              <a:rPr lang="en-US" sz="1800" dirty="0">
                <a:solidFill>
                  <a:schemeClr val="bg2"/>
                </a:solidFill>
              </a:rPr>
              <a:t>Final Project Review  |  Department of CSE  |  K L (Deemed to be) University</a:t>
            </a:r>
            <a:endParaRPr lang="en-US" sz="1800" dirty="0"/>
          </a:p>
        </p:txBody>
      </p:sp>
      <p:sp>
        <p:nvSpPr>
          <p:cNvPr id="4" name="Text 1"/>
          <p:cNvSpPr>
            <a:spLocks noGrp="1"/>
          </p:cNvSpPr>
          <p:nvPr>
            <p:ph type="body" idx="104" hasCustomPrompt="1"/>
          </p:nvPr>
        </p:nvSpPr>
        <p:spPr>
          <a:xfrm>
            <a:off x="731520" y="4206240"/>
            <a:ext cx="6949440" cy="1920240"/>
          </a:xfrm>
          <a:prstGeom prst="rect">
            <a:avLst/>
          </a:prstGeom>
          <a:noFill/>
          <a:ln/>
        </p:spPr>
        <p:txBody>
          <a:bodyPr wrap="square" lIns="0" tIns="0" rIns="0" bIns="0" rtlCol="0" anchor="t"/>
          <a:lstStyle/>
          <a:p>
            <a:pPr marL="0" indent="0">
              <a:spcAft>
                <a:spcPts val="400"/>
              </a:spcAft>
              <a:buNone/>
            </a:pPr>
            <a:r>
              <a:rPr lang="en-US" sz="1600" b="1" dirty="0">
                <a:solidFill>
                  <a:schemeClr val="accent2"/>
                </a:solidFill>
              </a:rPr>
              <a:t>TEAM MEMBERS</a:t>
            </a:r>
            <a:endParaRPr lang="en-US" sz="1600" dirty="0"/>
          </a:p>
          <a:p>
            <a:pPr marL="0" indent="0">
              <a:spcAft>
                <a:spcPts val="400"/>
              </a:spcAft>
              <a:buNone/>
            </a:pPr>
            <a:r>
              <a:rPr lang="en-US" sz="1600" dirty="0">
                <a:solidFill>
                  <a:schemeClr val="bg1"/>
                </a:solidFill>
              </a:rPr>
              <a:t>2420030008 – SAI TEJA BANDARI</a:t>
            </a:r>
            <a:endParaRPr lang="en-US" sz="1600" dirty="0"/>
          </a:p>
          <a:p>
            <a:pPr marL="0" indent="0">
              <a:spcAft>
                <a:spcPts val="400"/>
              </a:spcAft>
              <a:buNone/>
            </a:pPr>
            <a:r>
              <a:rPr lang="en-US" sz="1600" dirty="0">
                <a:solidFill>
                  <a:schemeClr val="bg1"/>
                </a:solidFill>
              </a:rPr>
              <a:t>2420030545 – MANI CHARAN CHAVA</a:t>
            </a:r>
            <a:endParaRPr lang="en-US" sz="1600" dirty="0"/>
          </a:p>
          <a:p>
            <a:pPr marL="0" indent="0">
              <a:spcAft>
                <a:spcPts val="400"/>
              </a:spcAft>
              <a:buNone/>
            </a:pPr>
            <a:r>
              <a:rPr lang="en-US" sz="1600" dirty="0">
                <a:solidFill>
                  <a:schemeClr val="bg1"/>
                </a:solidFill>
              </a:rPr>
              <a:t>Guide: Dr. N. Sunanda, Dept. of CSE   |   Academic Year: 2026–27</a:t>
            </a:r>
            <a:endParaRPr lang="en-US" sz="1600" dirty="0"/>
          </a:p>
        </p:txBody>
      </p:sp>
      <p:sp>
        <p:nvSpPr>
          <p:cNvPr id="5" name="Logo placeholder"/>
          <p:cNvSpPr/>
          <p:nvPr/>
        </p:nvSpPr>
        <p:spPr>
          <a:xfrm>
            <a:off x="731520" y="548640"/>
            <a:ext cx="2560320" cy="822960"/>
          </a:xfrm>
          <a:prstGeom prst="rect">
            <a:avLst/>
          </a:prstGeom>
          <a:solidFill>
            <a:schemeClr val="tx2"/>
          </a:solidFill>
          <a:ln w="15875">
            <a:solidFill>
              <a:schemeClr val="bg2"/>
            </a:solidFill>
            <a:prstDash val="dash"/>
          </a:ln>
        </p:spPr>
        <p:txBody>
          <a:bodyPr wrap="square" lIns="1270" tIns="1270" rIns="1270" bIns="1270" rtlCol="0" anchor="ctr"/>
          <a:lstStyle/>
          <a:p>
            <a:pPr marL="0" indent="0" algn="ctr">
              <a:buNone/>
            </a:pPr>
            <a:r>
              <a:rPr lang="en-US" sz="1400" i="1" dirty="0">
                <a:solidFill>
                  <a:schemeClr val="bg2"/>
                </a:solidFill>
              </a:rPr>
              <a:t>K L University – CSE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Introduction &amp; Problem Statement</a:t>
            </a:r>
            <a:endParaRPr lang="en-US" sz="3200" dirty="0"/>
          </a:p>
        </p:txBody>
      </p:sp>
      <p:sp>
        <p:nvSpPr>
          <p:cNvPr id="4" name="Card"/>
          <p:cNvSpPr/>
          <p:nvPr/>
        </p:nvSpPr>
        <p:spPr>
          <a:xfrm>
            <a:off x="548640" y="1371600"/>
            <a:ext cx="6766560" cy="1463040"/>
          </a:xfrm>
          <a:prstGeom prst="roundRect">
            <a:avLst>
              <a:gd name="adj" fmla="val 7500"/>
            </a:avLst>
          </a:prstGeom>
          <a:solidFill>
            <a:schemeClr val="bg2"/>
          </a:solidFill>
          <a:ln/>
        </p:spPr>
        <p:txBody>
          <a:bodyPr/>
          <a:lstStyle/>
          <a:p>
            <a:endParaRPr lang="en-IN"/>
          </a:p>
        </p:txBody>
      </p:sp>
      <p:sp>
        <p:nvSpPr>
          <p:cNvPr id="5" name="Icon badge"/>
          <p:cNvSpPr/>
          <p:nvPr/>
        </p:nvSpPr>
        <p:spPr>
          <a:xfrm>
            <a:off x="822960" y="1554480"/>
            <a:ext cx="502920" cy="502920"/>
          </a:xfrm>
          <a:prstGeom prst="ellipse">
            <a:avLst/>
          </a:prstGeom>
          <a:solidFill>
            <a:schemeClr val="accent1"/>
          </a:solidFill>
          <a:ln/>
        </p:spPr>
        <p:txBody>
          <a:bodyPr/>
          <a:lstStyle/>
          <a:p>
            <a:endParaRPr lang="en-IN"/>
          </a:p>
        </p:txBody>
      </p:sp>
      <p:pic>
        <p:nvPicPr>
          <p:cNvPr id="6" name="Image 0" descr="Lightbulb icon"/>
          <p:cNvPicPr>
            <a:picLocks noChangeAspect="1"/>
          </p:cNvPicPr>
          <p:nvPr/>
        </p:nvPicPr>
        <p:blipFill>
          <a:blip r:embed="rId3"/>
          <a:stretch>
            <a:fillRect/>
          </a:stretch>
        </p:blipFill>
        <p:spPr>
          <a:xfrm>
            <a:off x="933602" y="1665122"/>
            <a:ext cx="281635" cy="281635"/>
          </a:xfrm>
          <a:prstGeom prst="rect">
            <a:avLst/>
          </a:prstGeom>
        </p:spPr>
      </p:pic>
      <p:sp>
        <p:nvSpPr>
          <p:cNvPr id="7" name="Text 3"/>
          <p:cNvSpPr txBox="1"/>
          <p:nvPr/>
        </p:nvSpPr>
        <p:spPr>
          <a:xfrm>
            <a:off x="1508760" y="1554480"/>
            <a:ext cx="5577840" cy="502920"/>
          </a:xfrm>
          <a:prstGeom prst="rect">
            <a:avLst/>
          </a:prstGeom>
          <a:noFill/>
          <a:ln/>
        </p:spPr>
        <p:txBody>
          <a:bodyPr wrap="square" lIns="0" tIns="0" rIns="0" bIns="0" rtlCol="0" anchor="ctr"/>
          <a:lstStyle/>
          <a:p>
            <a:pPr marL="0" indent="0">
              <a:buNone/>
            </a:pPr>
            <a:r>
              <a:rPr lang="en-US" sz="1800" b="1" dirty="0">
                <a:solidFill>
                  <a:schemeClr val="tx2"/>
                </a:solidFill>
              </a:rPr>
              <a:t>Background</a:t>
            </a:r>
            <a:endParaRPr lang="en-US" sz="1800" dirty="0"/>
          </a:p>
        </p:txBody>
      </p:sp>
      <p:sp>
        <p:nvSpPr>
          <p:cNvPr id="8" name="Text 4"/>
          <p:cNvSpPr txBox="1"/>
          <p:nvPr/>
        </p:nvSpPr>
        <p:spPr>
          <a:xfrm>
            <a:off x="822960" y="2240280"/>
            <a:ext cx="6217920" cy="457200"/>
          </a:xfrm>
          <a:prstGeom prst="rect">
            <a:avLst/>
          </a:prstGeom>
          <a:noFill/>
          <a:ln/>
        </p:spPr>
        <p:txBody>
          <a:bodyPr wrap="square" lIns="0" tIns="0" rIns="0" bIns="0" rtlCol="0" anchor="t"/>
          <a:lstStyle/>
          <a:p>
            <a:pPr marL="0" indent="0">
              <a:buNone/>
            </a:pPr>
            <a:r>
              <a:rPr lang="en-US" sz="1400" dirty="0">
                <a:solidFill>
                  <a:schemeClr val="tx1"/>
                </a:solidFill>
              </a:rPr>
              <a:t>Recruiters receive hundreds of resumes per opening. Reading them manually is slow, inconsistent and affected by unconscious bias.</a:t>
            </a:r>
            <a:endParaRPr lang="en-US" sz="1400" dirty="0"/>
          </a:p>
        </p:txBody>
      </p:sp>
      <p:sp>
        <p:nvSpPr>
          <p:cNvPr id="9" name="Card"/>
          <p:cNvSpPr/>
          <p:nvPr/>
        </p:nvSpPr>
        <p:spPr>
          <a:xfrm>
            <a:off x="548640" y="3017520"/>
            <a:ext cx="6766560" cy="1463040"/>
          </a:xfrm>
          <a:prstGeom prst="roundRect">
            <a:avLst>
              <a:gd name="adj" fmla="val 7500"/>
            </a:avLst>
          </a:prstGeom>
          <a:solidFill>
            <a:schemeClr val="bg2"/>
          </a:solidFill>
          <a:ln/>
        </p:spPr>
        <p:txBody>
          <a:bodyPr/>
          <a:lstStyle/>
          <a:p>
            <a:endParaRPr lang="en-IN"/>
          </a:p>
        </p:txBody>
      </p:sp>
      <p:sp>
        <p:nvSpPr>
          <p:cNvPr id="10" name="Icon badge"/>
          <p:cNvSpPr/>
          <p:nvPr/>
        </p:nvSpPr>
        <p:spPr>
          <a:xfrm>
            <a:off x="822960" y="3200400"/>
            <a:ext cx="502920" cy="502920"/>
          </a:xfrm>
          <a:prstGeom prst="ellipse">
            <a:avLst/>
          </a:prstGeom>
          <a:solidFill>
            <a:schemeClr val="accent1"/>
          </a:solidFill>
          <a:ln/>
        </p:spPr>
        <p:txBody>
          <a:bodyPr/>
          <a:lstStyle/>
          <a:p>
            <a:endParaRPr lang="en-IN"/>
          </a:p>
        </p:txBody>
      </p:sp>
      <p:pic>
        <p:nvPicPr>
          <p:cNvPr id="11" name="Image 1" descr="ExclamationTriangle icon"/>
          <p:cNvPicPr>
            <a:picLocks noChangeAspect="1"/>
          </p:cNvPicPr>
          <p:nvPr/>
        </p:nvPicPr>
        <p:blipFill>
          <a:blip r:embed="rId4"/>
          <a:stretch>
            <a:fillRect/>
          </a:stretch>
        </p:blipFill>
        <p:spPr>
          <a:xfrm>
            <a:off x="933602" y="3311042"/>
            <a:ext cx="281635" cy="281635"/>
          </a:xfrm>
          <a:prstGeom prst="rect">
            <a:avLst/>
          </a:prstGeom>
        </p:spPr>
      </p:pic>
      <p:sp>
        <p:nvSpPr>
          <p:cNvPr id="12" name="Text 7"/>
          <p:cNvSpPr txBox="1"/>
          <p:nvPr/>
        </p:nvSpPr>
        <p:spPr>
          <a:xfrm>
            <a:off x="1508760" y="3200400"/>
            <a:ext cx="5577840" cy="502920"/>
          </a:xfrm>
          <a:prstGeom prst="rect">
            <a:avLst/>
          </a:prstGeom>
          <a:noFill/>
          <a:ln/>
        </p:spPr>
        <p:txBody>
          <a:bodyPr wrap="square" lIns="0" tIns="0" rIns="0" bIns="0" rtlCol="0" anchor="ctr"/>
          <a:lstStyle/>
          <a:p>
            <a:pPr marL="0" indent="0">
              <a:buNone/>
            </a:pPr>
            <a:r>
              <a:rPr lang="en-US" sz="1800" b="1" dirty="0">
                <a:solidFill>
                  <a:schemeClr val="tx2"/>
                </a:solidFill>
              </a:rPr>
              <a:t>Problem Statement</a:t>
            </a:r>
            <a:endParaRPr lang="en-US" sz="1800" dirty="0"/>
          </a:p>
        </p:txBody>
      </p:sp>
      <p:sp>
        <p:nvSpPr>
          <p:cNvPr id="13" name="Text 8"/>
          <p:cNvSpPr txBox="1"/>
          <p:nvPr/>
        </p:nvSpPr>
        <p:spPr>
          <a:xfrm>
            <a:off x="822960" y="3886200"/>
            <a:ext cx="6217920" cy="457200"/>
          </a:xfrm>
          <a:prstGeom prst="rect">
            <a:avLst/>
          </a:prstGeom>
          <a:noFill/>
          <a:ln/>
        </p:spPr>
        <p:txBody>
          <a:bodyPr wrap="square" lIns="0" tIns="0" rIns="0" bIns="0" rtlCol="0" anchor="t"/>
          <a:lstStyle/>
          <a:p>
            <a:pPr marL="0" indent="0">
              <a:buNone/>
            </a:pPr>
            <a:r>
              <a:rPr lang="en-US" sz="1400" dirty="0">
                <a:solidFill>
                  <a:schemeClr val="tx1"/>
                </a:solidFill>
              </a:rPr>
              <a:t>Manual screening cannot scale: no objective, explainable way to rank resumes against a specific job description.</a:t>
            </a:r>
            <a:endParaRPr lang="en-US" sz="1400" dirty="0"/>
          </a:p>
        </p:txBody>
      </p:sp>
      <p:sp>
        <p:nvSpPr>
          <p:cNvPr id="14" name="Card"/>
          <p:cNvSpPr/>
          <p:nvPr/>
        </p:nvSpPr>
        <p:spPr>
          <a:xfrm>
            <a:off x="548640" y="4663440"/>
            <a:ext cx="6766560" cy="1463040"/>
          </a:xfrm>
          <a:prstGeom prst="roundRect">
            <a:avLst>
              <a:gd name="adj" fmla="val 7500"/>
            </a:avLst>
          </a:prstGeom>
          <a:solidFill>
            <a:schemeClr val="bg2"/>
          </a:solidFill>
          <a:ln/>
        </p:spPr>
        <p:txBody>
          <a:bodyPr/>
          <a:lstStyle/>
          <a:p>
            <a:endParaRPr lang="en-IN"/>
          </a:p>
        </p:txBody>
      </p:sp>
      <p:sp>
        <p:nvSpPr>
          <p:cNvPr id="15" name="Icon badge"/>
          <p:cNvSpPr/>
          <p:nvPr/>
        </p:nvSpPr>
        <p:spPr>
          <a:xfrm>
            <a:off x="822960" y="4846320"/>
            <a:ext cx="502920" cy="502920"/>
          </a:xfrm>
          <a:prstGeom prst="ellipse">
            <a:avLst/>
          </a:prstGeom>
          <a:solidFill>
            <a:schemeClr val="accent1"/>
          </a:solidFill>
          <a:ln/>
        </p:spPr>
        <p:txBody>
          <a:bodyPr/>
          <a:lstStyle/>
          <a:p>
            <a:endParaRPr lang="en-IN"/>
          </a:p>
        </p:txBody>
      </p:sp>
      <p:pic>
        <p:nvPicPr>
          <p:cNvPr id="16" name="Image 2" descr="Rocket icon"/>
          <p:cNvPicPr>
            <a:picLocks noChangeAspect="1"/>
          </p:cNvPicPr>
          <p:nvPr/>
        </p:nvPicPr>
        <p:blipFill>
          <a:blip r:embed="rId5"/>
          <a:stretch>
            <a:fillRect/>
          </a:stretch>
        </p:blipFill>
        <p:spPr>
          <a:xfrm>
            <a:off x="933602" y="4956962"/>
            <a:ext cx="281635" cy="281635"/>
          </a:xfrm>
          <a:prstGeom prst="rect">
            <a:avLst/>
          </a:prstGeom>
        </p:spPr>
      </p:pic>
      <p:sp>
        <p:nvSpPr>
          <p:cNvPr id="17" name="Text 11"/>
          <p:cNvSpPr txBox="1"/>
          <p:nvPr/>
        </p:nvSpPr>
        <p:spPr>
          <a:xfrm>
            <a:off x="1508760" y="4846320"/>
            <a:ext cx="5577840" cy="502920"/>
          </a:xfrm>
          <a:prstGeom prst="rect">
            <a:avLst/>
          </a:prstGeom>
          <a:noFill/>
          <a:ln/>
        </p:spPr>
        <p:txBody>
          <a:bodyPr wrap="square" lIns="0" tIns="0" rIns="0" bIns="0" rtlCol="0" anchor="ctr"/>
          <a:lstStyle/>
          <a:p>
            <a:pPr marL="0" indent="0">
              <a:buNone/>
            </a:pPr>
            <a:r>
              <a:rPr lang="en-US" sz="1800" b="1" dirty="0">
                <a:solidFill>
                  <a:schemeClr val="tx2"/>
                </a:solidFill>
              </a:rPr>
              <a:t>Motivation / Need</a:t>
            </a:r>
            <a:endParaRPr lang="en-US" sz="1800" dirty="0"/>
          </a:p>
        </p:txBody>
      </p:sp>
      <p:sp>
        <p:nvSpPr>
          <p:cNvPr id="18" name="Text 12"/>
          <p:cNvSpPr txBox="1"/>
          <p:nvPr/>
        </p:nvSpPr>
        <p:spPr>
          <a:xfrm>
            <a:off x="822960" y="5532120"/>
            <a:ext cx="6217920" cy="457200"/>
          </a:xfrm>
          <a:prstGeom prst="rect">
            <a:avLst/>
          </a:prstGeom>
          <a:noFill/>
          <a:ln/>
        </p:spPr>
        <p:txBody>
          <a:bodyPr wrap="square" lIns="0" tIns="0" rIns="0" bIns="0" rtlCol="0" anchor="t"/>
          <a:lstStyle/>
          <a:p>
            <a:pPr marL="0" indent="0">
              <a:buNone/>
            </a:pPr>
            <a:r>
              <a:rPr lang="en-US" sz="1400" dirty="0">
                <a:solidFill>
                  <a:schemeClr val="tx1"/>
                </a:solidFill>
              </a:rPr>
              <a:t>Recruiters save time and candidates are judged on skills; without automation, good profiles are missed through fatigue and keyword filters.</a:t>
            </a:r>
            <a:endParaRPr lang="en-US" sz="1400" dirty="0"/>
          </a:p>
        </p:txBody>
      </p:sp>
      <p:sp>
        <p:nvSpPr>
          <p:cNvPr id="19" name="Placeholder – replace with picture"/>
          <p:cNvSpPr/>
          <p:nvPr/>
        </p:nvSpPr>
        <p:spPr>
          <a:xfrm>
            <a:off x="7589520" y="1371600"/>
            <a:ext cx="4050792" cy="4572000"/>
          </a:xfrm>
          <a:prstGeom prst="rect">
            <a:avLst/>
          </a:prstGeom>
          <a:solidFill>
            <a:schemeClr val="bg2"/>
          </a:solidFill>
          <a:ln w="15875">
            <a:solidFill>
              <a:schemeClr val="accent5"/>
            </a:solidFill>
            <a:prstDash val="dash"/>
          </a:ln>
        </p:spPr>
        <p:txBody>
          <a:bodyPr wrap="square" lIns="2540" tIns="2540" rIns="2540" bIns="2540" rtlCol="0" anchor="ctr"/>
          <a:lstStyle/>
          <a:p>
            <a:pPr marL="0" indent="0" algn="ctr">
              <a:buNone/>
            </a:pPr>
            <a:r>
              <a:rPr lang="en-US" sz="1400" i="1" dirty="0">
                <a:solidFill>
                  <a:schemeClr val="tx2"/>
                </a:solidFill>
              </a:rPr>
              <a:t>Illustration: recruiter facing a stack of resumes</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Objectives &amp; Scope</a:t>
            </a:r>
            <a:endParaRPr lang="en-US" sz="3200" dirty="0"/>
          </a:p>
        </p:txBody>
      </p:sp>
      <p:sp>
        <p:nvSpPr>
          <p:cNvPr id="4" name="Text 1"/>
          <p:cNvSpPr txBox="1"/>
          <p:nvPr/>
        </p:nvSpPr>
        <p:spPr>
          <a:xfrm>
            <a:off x="548640" y="1371600"/>
            <a:ext cx="5852160" cy="365760"/>
          </a:xfrm>
          <a:prstGeom prst="rect">
            <a:avLst/>
          </a:prstGeom>
          <a:noFill/>
          <a:ln/>
        </p:spPr>
        <p:txBody>
          <a:bodyPr wrap="square" lIns="0" tIns="0" rIns="0" bIns="0" rtlCol="0" anchor="t"/>
          <a:lstStyle/>
          <a:p>
            <a:pPr marL="0" indent="0">
              <a:buNone/>
            </a:pPr>
            <a:r>
              <a:rPr lang="en-US" sz="2000" b="1" dirty="0">
                <a:solidFill>
                  <a:schemeClr val="tx2"/>
                </a:solidFill>
              </a:rPr>
              <a:t>Objectives</a:t>
            </a:r>
            <a:endParaRPr lang="en-US" sz="2000" dirty="0"/>
          </a:p>
        </p:txBody>
      </p:sp>
      <p:sp>
        <p:nvSpPr>
          <p:cNvPr id="5" name="Number badge"/>
          <p:cNvSpPr/>
          <p:nvPr/>
        </p:nvSpPr>
        <p:spPr>
          <a:xfrm>
            <a:off x="548640" y="1965960"/>
            <a:ext cx="594360" cy="59436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3"/>
          <p:cNvSpPr txBox="1"/>
          <p:nvPr/>
        </p:nvSpPr>
        <p:spPr>
          <a:xfrm>
            <a:off x="1371600" y="1965960"/>
            <a:ext cx="5029200" cy="594360"/>
          </a:xfrm>
          <a:prstGeom prst="rect">
            <a:avLst/>
          </a:prstGeom>
          <a:noFill/>
          <a:ln/>
        </p:spPr>
        <p:txBody>
          <a:bodyPr wrap="square" lIns="0" tIns="0" rIns="0" bIns="0" rtlCol="0" anchor="ctr"/>
          <a:lstStyle/>
          <a:p>
            <a:pPr marL="0" indent="0">
              <a:buNone/>
            </a:pPr>
            <a:r>
              <a:rPr lang="en-US" sz="1600" dirty="0">
                <a:solidFill>
                  <a:schemeClr val="tx1"/>
                </a:solidFill>
              </a:rPr>
              <a:t>Develop an NLP pipeline (tokenise, clean, extract text from PDF/DOCX/TXT) for resumes.</a:t>
            </a:r>
            <a:endParaRPr lang="en-US" sz="1600" dirty="0"/>
          </a:p>
        </p:txBody>
      </p:sp>
      <p:sp>
        <p:nvSpPr>
          <p:cNvPr id="7" name="Number badge"/>
          <p:cNvSpPr/>
          <p:nvPr/>
        </p:nvSpPr>
        <p:spPr>
          <a:xfrm>
            <a:off x="548640" y="3017520"/>
            <a:ext cx="594360" cy="59436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8" name="Text 5"/>
          <p:cNvSpPr txBox="1"/>
          <p:nvPr/>
        </p:nvSpPr>
        <p:spPr>
          <a:xfrm>
            <a:off x="1371600" y="3017520"/>
            <a:ext cx="5029200" cy="594360"/>
          </a:xfrm>
          <a:prstGeom prst="rect">
            <a:avLst/>
          </a:prstGeom>
          <a:noFill/>
          <a:ln/>
        </p:spPr>
        <p:txBody>
          <a:bodyPr wrap="square" lIns="0" tIns="0" rIns="0" bIns="0" rtlCol="0" anchor="ctr"/>
          <a:lstStyle/>
          <a:p>
            <a:pPr marL="0" indent="0">
              <a:buNone/>
            </a:pPr>
            <a:r>
              <a:rPr lang="en-US" sz="1600" dirty="0">
                <a:solidFill>
                  <a:schemeClr val="tx1"/>
                </a:solidFill>
              </a:rPr>
              <a:t>Represent resumes and job descriptions in one TF-IDF vector space.</a:t>
            </a:r>
            <a:endParaRPr lang="en-US" sz="1600" dirty="0"/>
          </a:p>
        </p:txBody>
      </p:sp>
      <p:sp>
        <p:nvSpPr>
          <p:cNvPr id="9" name="Number badge"/>
          <p:cNvSpPr/>
          <p:nvPr/>
        </p:nvSpPr>
        <p:spPr>
          <a:xfrm>
            <a:off x="548640" y="4069080"/>
            <a:ext cx="594360" cy="59436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0" name="Text 7"/>
          <p:cNvSpPr txBox="1"/>
          <p:nvPr/>
        </p:nvSpPr>
        <p:spPr>
          <a:xfrm>
            <a:off x="1371600" y="4069080"/>
            <a:ext cx="5029200" cy="594360"/>
          </a:xfrm>
          <a:prstGeom prst="rect">
            <a:avLst/>
          </a:prstGeom>
          <a:noFill/>
          <a:ln/>
        </p:spPr>
        <p:txBody>
          <a:bodyPr wrap="square" lIns="0" tIns="0" rIns="0" bIns="0" rtlCol="0" anchor="ctr"/>
          <a:lstStyle/>
          <a:p>
            <a:pPr marL="0" indent="0">
              <a:buNone/>
            </a:pPr>
            <a:r>
              <a:rPr lang="en-US" sz="1600" dirty="0">
                <a:solidFill>
                  <a:schemeClr val="tx1"/>
                </a:solidFill>
              </a:rPr>
              <a:t>Rank candidates using cosine similarity combined with skill matching.</a:t>
            </a:r>
            <a:endParaRPr lang="en-US" sz="1600" dirty="0"/>
          </a:p>
        </p:txBody>
      </p:sp>
      <p:sp>
        <p:nvSpPr>
          <p:cNvPr id="11" name="Number badge"/>
          <p:cNvSpPr/>
          <p:nvPr/>
        </p:nvSpPr>
        <p:spPr>
          <a:xfrm>
            <a:off x="548640" y="5120640"/>
            <a:ext cx="594360" cy="59436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2" name="Text 9"/>
          <p:cNvSpPr txBox="1"/>
          <p:nvPr/>
        </p:nvSpPr>
        <p:spPr>
          <a:xfrm>
            <a:off x="1371600" y="5120640"/>
            <a:ext cx="5029200" cy="594360"/>
          </a:xfrm>
          <a:prstGeom prst="rect">
            <a:avLst/>
          </a:prstGeom>
          <a:noFill/>
          <a:ln/>
        </p:spPr>
        <p:txBody>
          <a:bodyPr wrap="square" lIns="0" tIns="0" rIns="0" bIns="0" rtlCol="0" anchor="ctr"/>
          <a:lstStyle/>
          <a:p>
            <a:pPr marL="0" indent="0">
              <a:buNone/>
            </a:pPr>
            <a:r>
              <a:rPr lang="en-US" sz="1600" dirty="0">
                <a:solidFill>
                  <a:schemeClr val="tx1"/>
                </a:solidFill>
              </a:rPr>
              <a:t>Deliver a secure web app with login, sign-up, ranked dashboard and Gmail alerts.</a:t>
            </a:r>
            <a:endParaRPr lang="en-US" sz="1600" dirty="0"/>
          </a:p>
        </p:txBody>
      </p:sp>
      <p:pic>
        <p:nvPicPr>
          <p:cNvPr id="15" name="Image 0" descr="CheckCircle icon"/>
          <p:cNvPicPr>
            <a:picLocks noChangeAspect="1"/>
          </p:cNvPicPr>
          <p:nvPr/>
        </p:nvPicPr>
        <p:blipFill>
          <a:blip r:embed="rId3"/>
          <a:stretch>
            <a:fillRect/>
          </a:stretch>
        </p:blipFill>
        <p:spPr>
          <a:xfrm>
            <a:off x="7151522" y="1665122"/>
            <a:ext cx="281635" cy="281635"/>
          </a:xfrm>
          <a:prstGeom prst="rect">
            <a:avLst/>
          </a:prstGeom>
        </p:spPr>
      </p:pic>
      <p:pic>
        <p:nvPicPr>
          <p:cNvPr id="20" name="Image 1" descr="TimesCircle icon"/>
          <p:cNvPicPr>
            <a:picLocks noChangeAspect="1"/>
          </p:cNvPicPr>
          <p:nvPr/>
        </p:nvPicPr>
        <p:blipFill>
          <a:blip r:embed="rId4"/>
          <a:stretch>
            <a:fillRect/>
          </a:stretch>
        </p:blipFill>
        <p:spPr>
          <a:xfrm>
            <a:off x="7151522" y="4179722"/>
            <a:ext cx="281635" cy="281635"/>
          </a:xfrm>
          <a:prstGeom prst="rect">
            <a:avLst/>
          </a:prstGeom>
        </p:spPr>
      </p:pic>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Literature Survey</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2651760"/>
        </p:xfrm>
        <a:graphic>
          <a:graphicData uri="http://schemas.openxmlformats.org/drawingml/2006/table">
            <a:tbl>
              <a:tblPr/>
              <a:tblGrid>
                <a:gridCol w="82296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gridCol w="2221992">
                  <a:extLst>
                    <a:ext uri="{9D8B030D-6E8A-4147-A177-3AD203B41FA5}">
                      <a16:colId xmlns:a16="http://schemas.microsoft.com/office/drawing/2014/main" val="20004"/>
                    </a:ext>
                  </a:extLst>
                </a:gridCol>
              </a:tblGrid>
              <a:tr h="457200">
                <a:tc>
                  <a:txBody>
                    <a:bodyPr/>
                    <a:lstStyle/>
                    <a:p>
                      <a:pPr marL="0" indent="0">
                        <a:buNone/>
                      </a:pPr>
                      <a:r>
                        <a:rPr lang="en-US" sz="1400" b="1" dirty="0">
                          <a:solidFill>
                            <a:srgbClr val="FFFFFF"/>
                          </a:solidFill>
                        </a:rPr>
                        <a:t>S.No</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rPr>
                        <a:t>Author(s) &amp; Year</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rPr>
                        <a:t>Method / Technique</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rPr>
                        <a:t>Key Findings</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rPr>
                        <a:t>Limitation / Gap</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548640">
                <a:tc>
                  <a:txBody>
                    <a:bodyPr/>
                    <a:lstStyle/>
                    <a:p>
                      <a:pPr marL="0" indent="0" algn="ctr">
                        <a:buNone/>
                      </a:pPr>
                      <a:r>
                        <a:rPr lang="en-US" sz="1400" dirty="0">
                          <a:solidFill>
                            <a:srgbClr val="1B1F2A"/>
                          </a:solidFill>
                        </a:rPr>
                        <a:t>1</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AI-Powered Resume Screening using NLP &amp; ML (IEEE, 2025)</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NLP pre-processing + ML classifier</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Tags resumes by job category</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No ranking against a JD; no explanation</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lang="en-US" sz="1400" dirty="0">
                          <a:solidFill>
                            <a:srgbClr val="1B1F2A"/>
                          </a:solidFill>
                        </a:rPr>
                        <a:t>2</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ReSage AI – AI-Enhanced Resume Screening (IEEE, 2025)</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Generative AI (Gemini) + OpenCV scoring</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Applicant-side resume scoring</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Paid external API; cost, latency, privacy risk</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lgn="ctr">
                        <a:buNone/>
                      </a:pPr>
                      <a:r>
                        <a:rPr lang="en-US" sz="1400" dirty="0">
                          <a:solidFill>
                            <a:srgbClr val="1B1F2A"/>
                          </a:solidFill>
                        </a:rPr>
                        <a:t>3</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ML-based Resume Screening &amp; Ranking (IEEE, 2024)</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SVM / Naive Bayes / XGBoost comparison</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Compares classifiers for resume ranking</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Shallow TF-IDF features; no bias handling</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lang="en-US" sz="1400" dirty="0">
                          <a:solidFill>
                            <a:srgbClr val="1B1F2A"/>
                          </a:solidFill>
                        </a:rPr>
                        <a:t>4</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Resume Screening using Machine Learning (IEEE, 2024)</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NLP + cosine similarity</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Similarity-based resume matching</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Keyword-overlap bias; weak recruiter interaction</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Card"/>
          <p:cNvSpPr/>
          <p:nvPr/>
        </p:nvSpPr>
        <p:spPr>
          <a:xfrm>
            <a:off x="548640" y="4389120"/>
            <a:ext cx="11091672" cy="1691640"/>
          </a:xfrm>
          <a:prstGeom prst="roundRect">
            <a:avLst>
              <a:gd name="adj" fmla="val 6486"/>
            </a:avLst>
          </a:prstGeom>
          <a:solidFill>
            <a:schemeClr val="bg2"/>
          </a:solidFill>
          <a:ln/>
        </p:spPr>
        <p:txBody>
          <a:bodyPr/>
          <a:lstStyle/>
          <a:p>
            <a:endParaRPr lang="en-IN"/>
          </a:p>
        </p:txBody>
      </p:sp>
      <p:sp>
        <p:nvSpPr>
          <p:cNvPr id="6" name="Icon badge"/>
          <p:cNvSpPr/>
          <p:nvPr/>
        </p:nvSpPr>
        <p:spPr>
          <a:xfrm>
            <a:off x="822960" y="4572000"/>
            <a:ext cx="502920" cy="502920"/>
          </a:xfrm>
          <a:prstGeom prst="ellipse">
            <a:avLst/>
          </a:prstGeom>
          <a:solidFill>
            <a:schemeClr val="accent1"/>
          </a:solidFill>
          <a:ln/>
        </p:spPr>
        <p:txBody>
          <a:bodyPr/>
          <a:lstStyle/>
          <a:p>
            <a:endParaRPr lang="en-IN"/>
          </a:p>
        </p:txBody>
      </p:sp>
      <p:pic>
        <p:nvPicPr>
          <p:cNvPr id="3" name="Image 0" descr="Search icon"/>
          <p:cNvPicPr>
            <a:picLocks noChangeAspect="1"/>
          </p:cNvPicPr>
          <p:nvPr/>
        </p:nvPicPr>
        <p:blipFill>
          <a:blip r:embed="rId3"/>
          <a:stretch>
            <a:fillRect/>
          </a:stretch>
        </p:blipFill>
        <p:spPr>
          <a:xfrm>
            <a:off x="933602" y="4682642"/>
            <a:ext cx="281635" cy="281635"/>
          </a:xfrm>
          <a:prstGeom prst="rect">
            <a:avLst/>
          </a:prstGeom>
        </p:spPr>
      </p:pic>
      <p:sp>
        <p:nvSpPr>
          <p:cNvPr id="8" name="Text 3"/>
          <p:cNvSpPr txBox="1"/>
          <p:nvPr/>
        </p:nvSpPr>
        <p:spPr>
          <a:xfrm>
            <a:off x="1508760" y="4572000"/>
            <a:ext cx="9902952" cy="502920"/>
          </a:xfrm>
          <a:prstGeom prst="rect">
            <a:avLst/>
          </a:prstGeom>
          <a:noFill/>
          <a:ln/>
        </p:spPr>
        <p:txBody>
          <a:bodyPr wrap="square" lIns="0" tIns="0" rIns="0" bIns="0" rtlCol="0" anchor="ctr"/>
          <a:lstStyle/>
          <a:p>
            <a:pPr marL="0" indent="0">
              <a:buNone/>
            </a:pPr>
            <a:r>
              <a:rPr lang="en-US" sz="1800" b="1" dirty="0">
                <a:solidFill>
                  <a:schemeClr val="tx2"/>
                </a:solidFill>
              </a:rPr>
              <a:t>Research Gap</a:t>
            </a:r>
            <a:endParaRPr lang="en-US" sz="1800" dirty="0"/>
          </a:p>
        </p:txBody>
      </p:sp>
      <p:sp>
        <p:nvSpPr>
          <p:cNvPr id="9" name="Text 4"/>
          <p:cNvSpPr txBox="1"/>
          <p:nvPr/>
        </p:nvSpPr>
        <p:spPr>
          <a:xfrm>
            <a:off x="822960" y="5257800"/>
            <a:ext cx="10543032" cy="685800"/>
          </a:xfrm>
          <a:prstGeom prst="rect">
            <a:avLst/>
          </a:prstGeom>
          <a:noFill/>
          <a:ln/>
        </p:spPr>
        <p:txBody>
          <a:bodyPr wrap="square" lIns="0" tIns="0" rIns="0" bIns="0" rtlCol="0" anchor="t"/>
          <a:lstStyle/>
          <a:p>
            <a:pPr marL="0" indent="0">
              <a:buNone/>
            </a:pPr>
            <a:r>
              <a:rPr lang="en-US" sz="1400" dirty="0">
                <a:solidFill>
                  <a:schemeClr val="tx1"/>
                </a:solidFill>
              </a:rPr>
              <a:t>Existing work only tags categories or relies on paid APIs. Ours ranks resumes against a JD locally, with explained scores and an interactive recruiter dashboard (Objectives 3–4).</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Proposed System &amp; Methodology</a:t>
            </a:r>
            <a:endParaRPr lang="en-US" sz="3200" dirty="0"/>
          </a:p>
        </p:txBody>
      </p:sp>
      <p:sp>
        <p:nvSpPr>
          <p:cNvPr id="4" name="Card"/>
          <p:cNvSpPr/>
          <p:nvPr/>
        </p:nvSpPr>
        <p:spPr>
          <a:xfrm>
            <a:off x="548640" y="1463040"/>
            <a:ext cx="1920240" cy="2834640"/>
          </a:xfrm>
          <a:prstGeom prst="roundRect">
            <a:avLst>
              <a:gd name="adj" fmla="val 5714"/>
            </a:avLst>
          </a:prstGeom>
          <a:solidFill>
            <a:schemeClr val="bg2"/>
          </a:solidFill>
          <a:ln/>
        </p:spPr>
        <p:txBody>
          <a:bodyPr/>
          <a:lstStyle/>
          <a:p>
            <a:endParaRPr lang="en-IN"/>
          </a:p>
        </p:txBody>
      </p:sp>
      <p:sp>
        <p:nvSpPr>
          <p:cNvPr id="5" name="Icon badge"/>
          <p:cNvSpPr/>
          <p:nvPr/>
        </p:nvSpPr>
        <p:spPr>
          <a:xfrm>
            <a:off x="777240" y="1691640"/>
            <a:ext cx="548640" cy="548640"/>
          </a:xfrm>
          <a:prstGeom prst="ellipse">
            <a:avLst/>
          </a:prstGeom>
          <a:solidFill>
            <a:schemeClr val="accent1"/>
          </a:solidFill>
          <a:ln/>
        </p:spPr>
        <p:txBody>
          <a:bodyPr/>
          <a:lstStyle/>
          <a:p>
            <a:endParaRPr lang="en-IN"/>
          </a:p>
        </p:txBody>
      </p:sp>
      <p:pic>
        <p:nvPicPr>
          <p:cNvPr id="6" name="Image 0" descr="ClipboardList icon"/>
          <p:cNvPicPr>
            <a:picLocks noChangeAspect="1"/>
          </p:cNvPicPr>
          <p:nvPr/>
        </p:nvPicPr>
        <p:blipFill>
          <a:blip r:embed="rId3"/>
          <a:stretch>
            <a:fillRect/>
          </a:stretch>
        </p:blipFill>
        <p:spPr>
          <a:xfrm>
            <a:off x="897941" y="1812341"/>
            <a:ext cx="307238" cy="307238"/>
          </a:xfrm>
          <a:prstGeom prst="rect">
            <a:avLst/>
          </a:prstGeom>
        </p:spPr>
      </p:pic>
      <p:sp>
        <p:nvSpPr>
          <p:cNvPr id="7" name="Text 3"/>
          <p:cNvSpPr txBox="1"/>
          <p:nvPr/>
        </p:nvSpPr>
        <p:spPr>
          <a:xfrm>
            <a:off x="777240" y="2377440"/>
            <a:ext cx="1463040" cy="274320"/>
          </a:xfrm>
          <a:prstGeom prst="rect">
            <a:avLst/>
          </a:prstGeom>
          <a:noFill/>
          <a:ln/>
        </p:spPr>
        <p:txBody>
          <a:bodyPr wrap="square" lIns="0" tIns="0" rIns="0" bIns="0" rtlCol="0" anchor="t"/>
          <a:lstStyle/>
          <a:p>
            <a:pPr marL="0" indent="0">
              <a:buNone/>
            </a:pPr>
            <a:r>
              <a:rPr lang="en-US" sz="1200" b="1" dirty="0">
                <a:solidFill>
                  <a:schemeClr val="accent5"/>
                </a:solidFill>
              </a:rPr>
              <a:t>STEP 1</a:t>
            </a:r>
            <a:endParaRPr lang="en-US" sz="1200" dirty="0"/>
          </a:p>
        </p:txBody>
      </p:sp>
      <p:sp>
        <p:nvSpPr>
          <p:cNvPr id="8" name="Text 4"/>
          <p:cNvSpPr txBox="1"/>
          <p:nvPr/>
        </p:nvSpPr>
        <p:spPr>
          <a:xfrm>
            <a:off x="777240" y="2651760"/>
            <a:ext cx="1554480" cy="365760"/>
          </a:xfrm>
          <a:prstGeom prst="rect">
            <a:avLst/>
          </a:prstGeom>
          <a:noFill/>
          <a:ln/>
        </p:spPr>
        <p:txBody>
          <a:bodyPr wrap="square" lIns="0" tIns="0" rIns="0" bIns="0" rtlCol="0" anchor="t"/>
          <a:lstStyle/>
          <a:p>
            <a:pPr marL="0" indent="0">
              <a:buNone/>
            </a:pPr>
            <a:r>
              <a:rPr lang="en-US" sz="1600" b="1" dirty="0">
                <a:solidFill>
                  <a:schemeClr val="tx2"/>
                </a:solidFill>
              </a:rPr>
              <a:t>Define Problem</a:t>
            </a:r>
            <a:endParaRPr lang="en-US" sz="1600" dirty="0"/>
          </a:p>
        </p:txBody>
      </p:sp>
      <p:sp>
        <p:nvSpPr>
          <p:cNvPr id="9" name="Text 5"/>
          <p:cNvSpPr txBox="1"/>
          <p:nvPr/>
        </p:nvSpPr>
        <p:spPr>
          <a:xfrm>
            <a:off x="777240" y="3063240"/>
            <a:ext cx="1508760" cy="1097280"/>
          </a:xfrm>
          <a:prstGeom prst="rect">
            <a:avLst/>
          </a:prstGeom>
          <a:noFill/>
          <a:ln/>
        </p:spPr>
        <p:txBody>
          <a:bodyPr wrap="square" lIns="0" tIns="0" rIns="0" bIns="0" rtlCol="0" anchor="t"/>
          <a:lstStyle/>
          <a:p>
            <a:pPr marL="0" indent="0">
              <a:buNone/>
            </a:pPr>
            <a:r>
              <a:rPr lang="en-US" sz="1400" dirty="0">
                <a:solidFill>
                  <a:schemeClr val="tx1"/>
                </a:solidFill>
              </a:rPr>
              <a:t>Identify the need, scope and success criteria.</a:t>
            </a:r>
            <a:endParaRPr lang="en-US" sz="1400" dirty="0"/>
          </a:p>
        </p:txBody>
      </p:sp>
      <p:sp>
        <p:nvSpPr>
          <p:cNvPr id="10" name="Flow arrow"/>
          <p:cNvSpPr/>
          <p:nvPr/>
        </p:nvSpPr>
        <p:spPr>
          <a:xfrm>
            <a:off x="2527173" y="2743200"/>
            <a:ext cx="256032" cy="274320"/>
          </a:xfrm>
          <a:prstGeom prst="rightArrow">
            <a:avLst/>
          </a:prstGeom>
          <a:solidFill>
            <a:schemeClr val="accent2"/>
          </a:solidFill>
          <a:ln/>
        </p:spPr>
        <p:txBody>
          <a:bodyPr/>
          <a:lstStyle/>
          <a:p>
            <a:endParaRPr lang="en-IN"/>
          </a:p>
        </p:txBody>
      </p:sp>
      <p:sp>
        <p:nvSpPr>
          <p:cNvPr id="11" name="Card"/>
          <p:cNvSpPr/>
          <p:nvPr/>
        </p:nvSpPr>
        <p:spPr>
          <a:xfrm>
            <a:off x="2841498" y="1463040"/>
            <a:ext cx="1920240" cy="2834640"/>
          </a:xfrm>
          <a:prstGeom prst="roundRect">
            <a:avLst>
              <a:gd name="adj" fmla="val 5714"/>
            </a:avLst>
          </a:prstGeom>
          <a:solidFill>
            <a:schemeClr val="bg2"/>
          </a:solidFill>
          <a:ln/>
        </p:spPr>
        <p:txBody>
          <a:bodyPr/>
          <a:lstStyle/>
          <a:p>
            <a:endParaRPr lang="en-IN"/>
          </a:p>
        </p:txBody>
      </p:sp>
      <p:sp>
        <p:nvSpPr>
          <p:cNvPr id="12" name="Icon badge"/>
          <p:cNvSpPr/>
          <p:nvPr/>
        </p:nvSpPr>
        <p:spPr>
          <a:xfrm>
            <a:off x="3070098" y="1691640"/>
            <a:ext cx="548640" cy="548640"/>
          </a:xfrm>
          <a:prstGeom prst="ellipse">
            <a:avLst/>
          </a:prstGeom>
          <a:solidFill>
            <a:schemeClr val="accent1"/>
          </a:solidFill>
          <a:ln/>
        </p:spPr>
        <p:txBody>
          <a:bodyPr/>
          <a:lstStyle/>
          <a:p>
            <a:endParaRPr lang="en-IN"/>
          </a:p>
        </p:txBody>
      </p:sp>
      <p:pic>
        <p:nvPicPr>
          <p:cNvPr id="13" name="Image 1" descr="Database icon"/>
          <p:cNvPicPr>
            <a:picLocks noChangeAspect="1"/>
          </p:cNvPicPr>
          <p:nvPr/>
        </p:nvPicPr>
        <p:blipFill>
          <a:blip r:embed="rId4"/>
          <a:stretch>
            <a:fillRect/>
          </a:stretch>
        </p:blipFill>
        <p:spPr>
          <a:xfrm>
            <a:off x="3190799" y="1812341"/>
            <a:ext cx="307238" cy="307238"/>
          </a:xfrm>
          <a:prstGeom prst="rect">
            <a:avLst/>
          </a:prstGeom>
        </p:spPr>
      </p:pic>
      <p:sp>
        <p:nvSpPr>
          <p:cNvPr id="14" name="Text 9"/>
          <p:cNvSpPr txBox="1"/>
          <p:nvPr/>
        </p:nvSpPr>
        <p:spPr>
          <a:xfrm>
            <a:off x="3070098" y="2377440"/>
            <a:ext cx="1463040" cy="274320"/>
          </a:xfrm>
          <a:prstGeom prst="rect">
            <a:avLst/>
          </a:prstGeom>
          <a:noFill/>
          <a:ln/>
        </p:spPr>
        <p:txBody>
          <a:bodyPr wrap="square" lIns="0" tIns="0" rIns="0" bIns="0" rtlCol="0" anchor="t"/>
          <a:lstStyle/>
          <a:p>
            <a:pPr marL="0" indent="0">
              <a:buNone/>
            </a:pPr>
            <a:r>
              <a:rPr lang="en-US" sz="1200" b="1" dirty="0">
                <a:solidFill>
                  <a:schemeClr val="accent5"/>
                </a:solidFill>
              </a:rPr>
              <a:t>STEP 2</a:t>
            </a:r>
            <a:endParaRPr lang="en-US" sz="1200" dirty="0"/>
          </a:p>
        </p:txBody>
      </p:sp>
      <p:sp>
        <p:nvSpPr>
          <p:cNvPr id="15" name="Text 10"/>
          <p:cNvSpPr txBox="1"/>
          <p:nvPr/>
        </p:nvSpPr>
        <p:spPr>
          <a:xfrm>
            <a:off x="3070098" y="2651760"/>
            <a:ext cx="1554480" cy="365760"/>
          </a:xfrm>
          <a:prstGeom prst="rect">
            <a:avLst/>
          </a:prstGeom>
          <a:noFill/>
          <a:ln/>
        </p:spPr>
        <p:txBody>
          <a:bodyPr wrap="square" lIns="0" tIns="0" rIns="0" bIns="0" rtlCol="0" anchor="t"/>
          <a:lstStyle/>
          <a:p>
            <a:pPr marL="0" indent="0">
              <a:buNone/>
            </a:pPr>
            <a:r>
              <a:rPr lang="en-US" sz="1600" b="1" dirty="0">
                <a:solidFill>
                  <a:schemeClr val="tx2"/>
                </a:solidFill>
              </a:rPr>
              <a:t>Collect Data</a:t>
            </a:r>
            <a:endParaRPr lang="en-US" sz="1600" dirty="0"/>
          </a:p>
        </p:txBody>
      </p:sp>
      <p:sp>
        <p:nvSpPr>
          <p:cNvPr id="16" name="Text 11"/>
          <p:cNvSpPr txBox="1"/>
          <p:nvPr/>
        </p:nvSpPr>
        <p:spPr>
          <a:xfrm>
            <a:off x="3070098" y="3063240"/>
            <a:ext cx="1508760" cy="1097280"/>
          </a:xfrm>
          <a:prstGeom prst="rect">
            <a:avLst/>
          </a:prstGeom>
          <a:noFill/>
          <a:ln/>
        </p:spPr>
        <p:txBody>
          <a:bodyPr wrap="square" lIns="0" tIns="0" rIns="0" bIns="0" rtlCol="0" anchor="t"/>
          <a:lstStyle/>
          <a:p>
            <a:pPr marL="0" indent="0">
              <a:buNone/>
            </a:pPr>
            <a:r>
              <a:rPr lang="en-US" sz="1400" dirty="0">
                <a:solidFill>
                  <a:schemeClr val="tx1"/>
                </a:solidFill>
              </a:rPr>
              <a:t>Resume dataset (PDF/DOCX/TXT) plus job descriptions pasted by the recruiter.</a:t>
            </a:r>
            <a:endParaRPr lang="en-US" sz="1400" dirty="0"/>
          </a:p>
        </p:txBody>
      </p:sp>
      <p:sp>
        <p:nvSpPr>
          <p:cNvPr id="17" name="Flow arrow"/>
          <p:cNvSpPr/>
          <p:nvPr/>
        </p:nvSpPr>
        <p:spPr>
          <a:xfrm>
            <a:off x="4820031" y="2743200"/>
            <a:ext cx="256032" cy="274320"/>
          </a:xfrm>
          <a:prstGeom prst="rightArrow">
            <a:avLst/>
          </a:prstGeom>
          <a:solidFill>
            <a:schemeClr val="accent2"/>
          </a:solidFill>
          <a:ln/>
        </p:spPr>
        <p:txBody>
          <a:bodyPr/>
          <a:lstStyle/>
          <a:p>
            <a:endParaRPr lang="en-IN"/>
          </a:p>
        </p:txBody>
      </p:sp>
      <p:sp>
        <p:nvSpPr>
          <p:cNvPr id="18" name="Card"/>
          <p:cNvSpPr/>
          <p:nvPr/>
        </p:nvSpPr>
        <p:spPr>
          <a:xfrm>
            <a:off x="5134356" y="1463040"/>
            <a:ext cx="1920240" cy="2834640"/>
          </a:xfrm>
          <a:prstGeom prst="roundRect">
            <a:avLst>
              <a:gd name="adj" fmla="val 5714"/>
            </a:avLst>
          </a:prstGeom>
          <a:solidFill>
            <a:schemeClr val="bg2"/>
          </a:solidFill>
          <a:ln/>
        </p:spPr>
        <p:txBody>
          <a:bodyPr/>
          <a:lstStyle/>
          <a:p>
            <a:endParaRPr lang="en-IN"/>
          </a:p>
        </p:txBody>
      </p:sp>
      <p:sp>
        <p:nvSpPr>
          <p:cNvPr id="19" name="Icon badge"/>
          <p:cNvSpPr/>
          <p:nvPr/>
        </p:nvSpPr>
        <p:spPr>
          <a:xfrm>
            <a:off x="5362956" y="1691640"/>
            <a:ext cx="548640" cy="548640"/>
          </a:xfrm>
          <a:prstGeom prst="ellipse">
            <a:avLst/>
          </a:prstGeom>
          <a:solidFill>
            <a:schemeClr val="accent1"/>
          </a:solidFill>
          <a:ln/>
        </p:spPr>
        <p:txBody>
          <a:bodyPr/>
          <a:lstStyle/>
          <a:p>
            <a:endParaRPr lang="en-IN"/>
          </a:p>
        </p:txBody>
      </p:sp>
      <p:pic>
        <p:nvPicPr>
          <p:cNvPr id="20" name="Image 2" descr="ProjectDiagram icon"/>
          <p:cNvPicPr>
            <a:picLocks noChangeAspect="1"/>
          </p:cNvPicPr>
          <p:nvPr/>
        </p:nvPicPr>
        <p:blipFill>
          <a:blip r:embed="rId5"/>
          <a:stretch>
            <a:fillRect/>
          </a:stretch>
        </p:blipFill>
        <p:spPr>
          <a:xfrm>
            <a:off x="5483657" y="1812341"/>
            <a:ext cx="307238" cy="307238"/>
          </a:xfrm>
          <a:prstGeom prst="rect">
            <a:avLst/>
          </a:prstGeom>
        </p:spPr>
      </p:pic>
      <p:sp>
        <p:nvSpPr>
          <p:cNvPr id="21" name="Text 15"/>
          <p:cNvSpPr txBox="1"/>
          <p:nvPr/>
        </p:nvSpPr>
        <p:spPr>
          <a:xfrm>
            <a:off x="5362956" y="2377440"/>
            <a:ext cx="1463040" cy="274320"/>
          </a:xfrm>
          <a:prstGeom prst="rect">
            <a:avLst/>
          </a:prstGeom>
          <a:noFill/>
          <a:ln/>
        </p:spPr>
        <p:txBody>
          <a:bodyPr wrap="square" lIns="0" tIns="0" rIns="0" bIns="0" rtlCol="0" anchor="t"/>
          <a:lstStyle/>
          <a:p>
            <a:pPr marL="0" indent="0">
              <a:buNone/>
            </a:pPr>
            <a:r>
              <a:rPr lang="en-US" sz="1200" b="1" dirty="0">
                <a:solidFill>
                  <a:schemeClr val="accent5"/>
                </a:solidFill>
              </a:rPr>
              <a:t>STEP 3</a:t>
            </a:r>
            <a:endParaRPr lang="en-US" sz="1200" dirty="0"/>
          </a:p>
        </p:txBody>
      </p:sp>
      <p:sp>
        <p:nvSpPr>
          <p:cNvPr id="22" name="Text 16"/>
          <p:cNvSpPr txBox="1"/>
          <p:nvPr/>
        </p:nvSpPr>
        <p:spPr>
          <a:xfrm>
            <a:off x="5362956" y="2651760"/>
            <a:ext cx="1554480" cy="365760"/>
          </a:xfrm>
          <a:prstGeom prst="rect">
            <a:avLst/>
          </a:prstGeom>
          <a:noFill/>
          <a:ln/>
        </p:spPr>
        <p:txBody>
          <a:bodyPr wrap="square" lIns="0" tIns="0" rIns="0" bIns="0" rtlCol="0" anchor="t"/>
          <a:lstStyle/>
          <a:p>
            <a:pPr marL="0" indent="0">
              <a:buNone/>
            </a:pPr>
            <a:r>
              <a:rPr lang="en-US" sz="1600" b="1" dirty="0">
                <a:solidFill>
                  <a:schemeClr val="tx2"/>
                </a:solidFill>
              </a:rPr>
              <a:t>Design</a:t>
            </a:r>
            <a:endParaRPr lang="en-US" sz="1600" dirty="0"/>
          </a:p>
        </p:txBody>
      </p:sp>
      <p:sp>
        <p:nvSpPr>
          <p:cNvPr id="23" name="Text 17"/>
          <p:cNvSpPr txBox="1"/>
          <p:nvPr/>
        </p:nvSpPr>
        <p:spPr>
          <a:xfrm>
            <a:off x="5362956" y="3063240"/>
            <a:ext cx="1508760" cy="1097280"/>
          </a:xfrm>
          <a:prstGeom prst="rect">
            <a:avLst/>
          </a:prstGeom>
          <a:noFill/>
          <a:ln/>
        </p:spPr>
        <p:txBody>
          <a:bodyPr wrap="square" lIns="0" tIns="0" rIns="0" bIns="0" rtlCol="0" anchor="t"/>
          <a:lstStyle/>
          <a:p>
            <a:pPr marL="0" indent="0">
              <a:buNone/>
            </a:pPr>
            <a:r>
              <a:rPr lang="en-US" sz="1400" dirty="0">
                <a:solidFill>
                  <a:schemeClr val="tx1"/>
                </a:solidFill>
              </a:rPr>
              <a:t>TF-IDF (1–2 grams) + cosine similarity + skill matching; Flask + SQLite.</a:t>
            </a:r>
            <a:endParaRPr lang="en-US" sz="1400" dirty="0"/>
          </a:p>
        </p:txBody>
      </p:sp>
      <p:sp>
        <p:nvSpPr>
          <p:cNvPr id="24" name="Flow arrow"/>
          <p:cNvSpPr/>
          <p:nvPr/>
        </p:nvSpPr>
        <p:spPr>
          <a:xfrm>
            <a:off x="7112889" y="2743200"/>
            <a:ext cx="256032" cy="274320"/>
          </a:xfrm>
          <a:prstGeom prst="rightArrow">
            <a:avLst/>
          </a:prstGeom>
          <a:solidFill>
            <a:schemeClr val="accent2"/>
          </a:solidFill>
          <a:ln/>
        </p:spPr>
        <p:txBody>
          <a:bodyPr/>
          <a:lstStyle/>
          <a:p>
            <a:endParaRPr lang="en-IN"/>
          </a:p>
        </p:txBody>
      </p:sp>
      <p:sp>
        <p:nvSpPr>
          <p:cNvPr id="25" name="Card"/>
          <p:cNvSpPr/>
          <p:nvPr/>
        </p:nvSpPr>
        <p:spPr>
          <a:xfrm>
            <a:off x="7427214" y="1463040"/>
            <a:ext cx="1920240" cy="2834640"/>
          </a:xfrm>
          <a:prstGeom prst="roundRect">
            <a:avLst>
              <a:gd name="adj" fmla="val 5714"/>
            </a:avLst>
          </a:prstGeom>
          <a:solidFill>
            <a:schemeClr val="bg2"/>
          </a:solidFill>
          <a:ln/>
        </p:spPr>
        <p:txBody>
          <a:bodyPr/>
          <a:lstStyle/>
          <a:p>
            <a:endParaRPr lang="en-IN"/>
          </a:p>
        </p:txBody>
      </p:sp>
      <p:sp>
        <p:nvSpPr>
          <p:cNvPr id="26" name="Icon badge"/>
          <p:cNvSpPr/>
          <p:nvPr/>
        </p:nvSpPr>
        <p:spPr>
          <a:xfrm>
            <a:off x="7655814" y="1691640"/>
            <a:ext cx="548640" cy="548640"/>
          </a:xfrm>
          <a:prstGeom prst="ellipse">
            <a:avLst/>
          </a:prstGeom>
          <a:solidFill>
            <a:schemeClr val="accent1"/>
          </a:solidFill>
          <a:ln/>
        </p:spPr>
        <p:txBody>
          <a:bodyPr/>
          <a:lstStyle/>
          <a:p>
            <a:endParaRPr lang="en-IN"/>
          </a:p>
        </p:txBody>
      </p:sp>
      <p:pic>
        <p:nvPicPr>
          <p:cNvPr id="27" name="Image 3" descr="LaptopCode icon"/>
          <p:cNvPicPr>
            <a:picLocks noChangeAspect="1"/>
          </p:cNvPicPr>
          <p:nvPr/>
        </p:nvPicPr>
        <p:blipFill>
          <a:blip r:embed="rId6"/>
          <a:stretch>
            <a:fillRect/>
          </a:stretch>
        </p:blipFill>
        <p:spPr>
          <a:xfrm>
            <a:off x="7776515" y="1812341"/>
            <a:ext cx="307238" cy="307238"/>
          </a:xfrm>
          <a:prstGeom prst="rect">
            <a:avLst/>
          </a:prstGeom>
        </p:spPr>
      </p:pic>
      <p:sp>
        <p:nvSpPr>
          <p:cNvPr id="28" name="Text 21"/>
          <p:cNvSpPr txBox="1"/>
          <p:nvPr/>
        </p:nvSpPr>
        <p:spPr>
          <a:xfrm>
            <a:off x="7655814" y="2377440"/>
            <a:ext cx="1463040" cy="274320"/>
          </a:xfrm>
          <a:prstGeom prst="rect">
            <a:avLst/>
          </a:prstGeom>
          <a:noFill/>
          <a:ln/>
        </p:spPr>
        <p:txBody>
          <a:bodyPr wrap="square" lIns="0" tIns="0" rIns="0" bIns="0" rtlCol="0" anchor="t"/>
          <a:lstStyle/>
          <a:p>
            <a:pPr marL="0" indent="0">
              <a:buNone/>
            </a:pPr>
            <a:r>
              <a:rPr lang="en-US" sz="1200" b="1" dirty="0">
                <a:solidFill>
                  <a:schemeClr val="accent5"/>
                </a:solidFill>
              </a:rPr>
              <a:t>STEP 4</a:t>
            </a:r>
            <a:endParaRPr lang="en-US" sz="1200" dirty="0"/>
          </a:p>
        </p:txBody>
      </p:sp>
      <p:sp>
        <p:nvSpPr>
          <p:cNvPr id="29" name="Text 22"/>
          <p:cNvSpPr txBox="1"/>
          <p:nvPr/>
        </p:nvSpPr>
        <p:spPr>
          <a:xfrm>
            <a:off x="7655814" y="2651760"/>
            <a:ext cx="1554480" cy="365760"/>
          </a:xfrm>
          <a:prstGeom prst="rect">
            <a:avLst/>
          </a:prstGeom>
          <a:noFill/>
          <a:ln/>
        </p:spPr>
        <p:txBody>
          <a:bodyPr wrap="square" lIns="0" tIns="0" rIns="0" bIns="0" rtlCol="0" anchor="t"/>
          <a:lstStyle/>
          <a:p>
            <a:pPr marL="0" indent="0">
              <a:buNone/>
            </a:pPr>
            <a:r>
              <a:rPr lang="en-US" sz="1600" b="1" dirty="0">
                <a:solidFill>
                  <a:schemeClr val="tx2"/>
                </a:solidFill>
              </a:rPr>
              <a:t>Implement</a:t>
            </a:r>
            <a:endParaRPr lang="en-US" sz="1600" dirty="0"/>
          </a:p>
        </p:txBody>
      </p:sp>
      <p:sp>
        <p:nvSpPr>
          <p:cNvPr id="30" name="Text 23"/>
          <p:cNvSpPr txBox="1"/>
          <p:nvPr/>
        </p:nvSpPr>
        <p:spPr>
          <a:xfrm>
            <a:off x="7655814" y="3063240"/>
            <a:ext cx="1508760" cy="1097280"/>
          </a:xfrm>
          <a:prstGeom prst="rect">
            <a:avLst/>
          </a:prstGeom>
          <a:noFill/>
          <a:ln/>
        </p:spPr>
        <p:txBody>
          <a:bodyPr wrap="square" lIns="0" tIns="0" rIns="0" bIns="0" rtlCol="0" anchor="t"/>
          <a:lstStyle/>
          <a:p>
            <a:pPr marL="0" indent="0">
              <a:buNone/>
            </a:pPr>
            <a:r>
              <a:rPr lang="en-US" sz="1400" dirty="0">
                <a:solidFill>
                  <a:schemeClr val="tx1"/>
                </a:solidFill>
              </a:rPr>
              <a:t>Modules: parser, ranking engine, auth/database, dashboard, Gmail notifier.</a:t>
            </a:r>
            <a:endParaRPr lang="en-US" sz="1400" dirty="0"/>
          </a:p>
        </p:txBody>
      </p:sp>
      <p:sp>
        <p:nvSpPr>
          <p:cNvPr id="31" name="Flow arrow"/>
          <p:cNvSpPr/>
          <p:nvPr/>
        </p:nvSpPr>
        <p:spPr>
          <a:xfrm>
            <a:off x="9405747" y="2743200"/>
            <a:ext cx="256032" cy="274320"/>
          </a:xfrm>
          <a:prstGeom prst="rightArrow">
            <a:avLst/>
          </a:prstGeom>
          <a:solidFill>
            <a:schemeClr val="accent2"/>
          </a:solidFill>
          <a:ln/>
        </p:spPr>
        <p:txBody>
          <a:bodyPr/>
          <a:lstStyle/>
          <a:p>
            <a:endParaRPr lang="en-IN"/>
          </a:p>
        </p:txBody>
      </p:sp>
      <p:sp>
        <p:nvSpPr>
          <p:cNvPr id="32" name="Card"/>
          <p:cNvSpPr/>
          <p:nvPr/>
        </p:nvSpPr>
        <p:spPr>
          <a:xfrm>
            <a:off x="9720072" y="1463040"/>
            <a:ext cx="1920240" cy="2834640"/>
          </a:xfrm>
          <a:prstGeom prst="roundRect">
            <a:avLst>
              <a:gd name="adj" fmla="val 5714"/>
            </a:avLst>
          </a:prstGeom>
          <a:solidFill>
            <a:schemeClr val="bg2"/>
          </a:solidFill>
          <a:ln/>
        </p:spPr>
        <p:txBody>
          <a:bodyPr/>
          <a:lstStyle/>
          <a:p>
            <a:endParaRPr lang="en-IN"/>
          </a:p>
        </p:txBody>
      </p:sp>
      <p:sp>
        <p:nvSpPr>
          <p:cNvPr id="33" name="Icon badge"/>
          <p:cNvSpPr/>
          <p:nvPr/>
        </p:nvSpPr>
        <p:spPr>
          <a:xfrm>
            <a:off x="9948672" y="1691640"/>
            <a:ext cx="548640" cy="548640"/>
          </a:xfrm>
          <a:prstGeom prst="ellipse">
            <a:avLst/>
          </a:prstGeom>
          <a:solidFill>
            <a:schemeClr val="accent1"/>
          </a:solidFill>
          <a:ln/>
        </p:spPr>
        <p:txBody>
          <a:bodyPr/>
          <a:lstStyle/>
          <a:p>
            <a:endParaRPr lang="en-IN"/>
          </a:p>
        </p:txBody>
      </p:sp>
      <p:pic>
        <p:nvPicPr>
          <p:cNvPr id="34" name="Image 4" descr="Flask icon"/>
          <p:cNvPicPr>
            <a:picLocks noChangeAspect="1"/>
          </p:cNvPicPr>
          <p:nvPr/>
        </p:nvPicPr>
        <p:blipFill>
          <a:blip r:embed="rId7"/>
          <a:stretch>
            <a:fillRect/>
          </a:stretch>
        </p:blipFill>
        <p:spPr>
          <a:xfrm>
            <a:off x="10069373" y="1812341"/>
            <a:ext cx="307238" cy="307238"/>
          </a:xfrm>
          <a:prstGeom prst="rect">
            <a:avLst/>
          </a:prstGeom>
        </p:spPr>
      </p:pic>
      <p:sp>
        <p:nvSpPr>
          <p:cNvPr id="35" name="Text 27"/>
          <p:cNvSpPr txBox="1"/>
          <p:nvPr/>
        </p:nvSpPr>
        <p:spPr>
          <a:xfrm>
            <a:off x="9948672" y="2377440"/>
            <a:ext cx="1463040" cy="274320"/>
          </a:xfrm>
          <a:prstGeom prst="rect">
            <a:avLst/>
          </a:prstGeom>
          <a:noFill/>
          <a:ln/>
        </p:spPr>
        <p:txBody>
          <a:bodyPr wrap="square" lIns="0" tIns="0" rIns="0" bIns="0" rtlCol="0" anchor="t"/>
          <a:lstStyle/>
          <a:p>
            <a:pPr marL="0" indent="0">
              <a:buNone/>
            </a:pPr>
            <a:r>
              <a:rPr lang="en-US" sz="1200" b="1" dirty="0">
                <a:solidFill>
                  <a:schemeClr val="accent5"/>
                </a:solidFill>
              </a:rPr>
              <a:t>STEP 5</a:t>
            </a:r>
            <a:endParaRPr lang="en-US" sz="1200" dirty="0"/>
          </a:p>
        </p:txBody>
      </p:sp>
      <p:sp>
        <p:nvSpPr>
          <p:cNvPr id="36" name="Text 28"/>
          <p:cNvSpPr txBox="1"/>
          <p:nvPr/>
        </p:nvSpPr>
        <p:spPr>
          <a:xfrm>
            <a:off x="9948672" y="2651760"/>
            <a:ext cx="1554480" cy="365760"/>
          </a:xfrm>
          <a:prstGeom prst="rect">
            <a:avLst/>
          </a:prstGeom>
          <a:noFill/>
          <a:ln/>
        </p:spPr>
        <p:txBody>
          <a:bodyPr wrap="square" lIns="0" tIns="0" rIns="0" bIns="0" rtlCol="0" anchor="t"/>
          <a:lstStyle/>
          <a:p>
            <a:pPr marL="0" indent="0">
              <a:buNone/>
            </a:pPr>
            <a:r>
              <a:rPr lang="en-US" sz="1600" b="1" dirty="0">
                <a:solidFill>
                  <a:schemeClr val="tx2"/>
                </a:solidFill>
              </a:rPr>
              <a:t>Test &amp; Evaluate</a:t>
            </a:r>
            <a:endParaRPr lang="en-US" sz="1600" dirty="0"/>
          </a:p>
        </p:txBody>
      </p:sp>
      <p:sp>
        <p:nvSpPr>
          <p:cNvPr id="37" name="Text 29"/>
          <p:cNvSpPr txBox="1"/>
          <p:nvPr/>
        </p:nvSpPr>
        <p:spPr>
          <a:xfrm>
            <a:off x="9948672" y="3063240"/>
            <a:ext cx="1508760" cy="1097280"/>
          </a:xfrm>
          <a:prstGeom prst="rect">
            <a:avLst/>
          </a:prstGeom>
          <a:noFill/>
          <a:ln/>
        </p:spPr>
        <p:txBody>
          <a:bodyPr wrap="square" lIns="0" tIns="0" rIns="0" bIns="0" rtlCol="0" anchor="t"/>
          <a:lstStyle/>
          <a:p>
            <a:pPr marL="0" indent="0">
              <a:buNone/>
            </a:pPr>
            <a:r>
              <a:rPr lang="en-US" sz="1400" dirty="0">
                <a:solidFill>
                  <a:schemeClr val="tx1"/>
                </a:solidFill>
              </a:rPr>
              <a:t>Functional test cases; classifier metrics to be added (accuracy, F1).</a:t>
            </a:r>
            <a:endParaRPr lang="en-US" sz="1400" dirty="0"/>
          </a:p>
        </p:txBody>
      </p:sp>
      <p:sp>
        <p:nvSpPr>
          <p:cNvPr id="38" name="Card"/>
          <p:cNvSpPr/>
          <p:nvPr/>
        </p:nvSpPr>
        <p:spPr>
          <a:xfrm>
            <a:off x="548640" y="4572000"/>
            <a:ext cx="11091672" cy="1508760"/>
          </a:xfrm>
          <a:prstGeom prst="roundRect">
            <a:avLst>
              <a:gd name="adj" fmla="val 7273"/>
            </a:avLst>
          </a:prstGeom>
          <a:solidFill>
            <a:schemeClr val="accent1"/>
          </a:solidFill>
          <a:ln/>
        </p:spPr>
        <p:txBody>
          <a:bodyPr/>
          <a:lstStyle/>
          <a:p>
            <a:endParaRPr lang="en-IN"/>
          </a:p>
        </p:txBody>
      </p:sp>
      <p:sp>
        <p:nvSpPr>
          <p:cNvPr id="39" name="Icon badge"/>
          <p:cNvSpPr/>
          <p:nvPr/>
        </p:nvSpPr>
        <p:spPr>
          <a:xfrm>
            <a:off x="822960" y="4754880"/>
            <a:ext cx="502920" cy="502920"/>
          </a:xfrm>
          <a:prstGeom prst="ellipse">
            <a:avLst/>
          </a:prstGeom>
          <a:solidFill>
            <a:schemeClr val="accent2"/>
          </a:solidFill>
          <a:ln/>
        </p:spPr>
        <p:txBody>
          <a:bodyPr/>
          <a:lstStyle/>
          <a:p>
            <a:endParaRPr lang="en-IN"/>
          </a:p>
        </p:txBody>
      </p:sp>
      <p:pic>
        <p:nvPicPr>
          <p:cNvPr id="40" name="Image 5" descr="Rocket icon"/>
          <p:cNvPicPr>
            <a:picLocks noChangeAspect="1"/>
          </p:cNvPicPr>
          <p:nvPr/>
        </p:nvPicPr>
        <p:blipFill>
          <a:blip r:embed="rId8"/>
          <a:stretch>
            <a:fillRect/>
          </a:stretch>
        </p:blipFill>
        <p:spPr>
          <a:xfrm>
            <a:off x="933602" y="4865522"/>
            <a:ext cx="281635" cy="281635"/>
          </a:xfrm>
          <a:prstGeom prst="rect">
            <a:avLst/>
          </a:prstGeom>
        </p:spPr>
      </p:pic>
      <p:sp>
        <p:nvSpPr>
          <p:cNvPr id="41" name="Text 32"/>
          <p:cNvSpPr txBox="1"/>
          <p:nvPr/>
        </p:nvSpPr>
        <p:spPr>
          <a:xfrm>
            <a:off x="1508760" y="4754880"/>
            <a:ext cx="9902952" cy="502920"/>
          </a:xfrm>
          <a:prstGeom prst="rect">
            <a:avLst/>
          </a:prstGeom>
          <a:noFill/>
          <a:ln/>
        </p:spPr>
        <p:txBody>
          <a:bodyPr wrap="square" lIns="0" tIns="0" rIns="0" bIns="0" rtlCol="0" anchor="ctr"/>
          <a:lstStyle/>
          <a:p>
            <a:pPr marL="0" indent="0">
              <a:buNone/>
            </a:pPr>
            <a:r>
              <a:rPr lang="en-US" sz="1800" b="1" dirty="0">
                <a:solidFill>
                  <a:schemeClr val="bg1"/>
                </a:solidFill>
              </a:rPr>
              <a:t>Key Novelty / Contribution</a:t>
            </a:r>
            <a:endParaRPr lang="en-US" sz="1800" dirty="0"/>
          </a:p>
        </p:txBody>
      </p:sp>
      <p:sp>
        <p:nvSpPr>
          <p:cNvPr id="42" name="Text 33"/>
          <p:cNvSpPr txBox="1"/>
          <p:nvPr/>
        </p:nvSpPr>
        <p:spPr>
          <a:xfrm>
            <a:off x="822960" y="5440680"/>
            <a:ext cx="10543032" cy="502920"/>
          </a:xfrm>
          <a:prstGeom prst="rect">
            <a:avLst/>
          </a:prstGeom>
          <a:noFill/>
          <a:ln/>
        </p:spPr>
        <p:txBody>
          <a:bodyPr wrap="square" lIns="0" tIns="0" rIns="0" bIns="0" rtlCol="0" anchor="t"/>
          <a:lstStyle/>
          <a:p>
            <a:pPr marL="0" indent="0">
              <a:buNone/>
            </a:pPr>
            <a:r>
              <a:rPr lang="en-US" sz="1400" dirty="0">
                <a:solidFill>
                  <a:schemeClr val="bg1"/>
                </a:solidFill>
              </a:rPr>
              <a:t>A local, explainable, no-paid-API ranking system with secure accounts and automatic Gmail shortlist alerts.</a:t>
            </a:r>
            <a:endParaRPr lang="en-US" sz="1400" dirty="0"/>
          </a:p>
        </p:txBody>
      </p:sp>
      <p:sp>
        <p:nvSpPr>
          <p:cNvPr id="3"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System Architecture</a:t>
            </a:r>
            <a:endParaRPr lang="en-US" sz="3200" dirty="0"/>
          </a:p>
        </p:txBody>
      </p:sp>
      <p:sp>
        <p:nvSpPr>
          <p:cNvPr id="4" name="Placeholder – replace with picture"/>
          <p:cNvSpPr/>
          <p:nvPr/>
        </p:nvSpPr>
        <p:spPr>
          <a:xfrm>
            <a:off x="548640" y="1371600"/>
            <a:ext cx="7223760" cy="4754880"/>
          </a:xfrm>
          <a:prstGeom prst="rect">
            <a:avLst/>
          </a:prstGeom>
          <a:solidFill>
            <a:schemeClr val="bg2"/>
          </a:solidFill>
          <a:ln w="15875">
            <a:solidFill>
              <a:schemeClr val="accent5"/>
            </a:solidFill>
            <a:prstDash val="dash"/>
          </a:ln>
        </p:spPr>
        <p:txBody>
          <a:bodyPr wrap="square" lIns="2540" tIns="2540" rIns="2540" bIns="2540" rtlCol="0" anchor="ctr"/>
          <a:lstStyle/>
          <a:p>
            <a:pPr marL="0" indent="0" algn="ctr">
              <a:buNone/>
            </a:pPr>
            <a:r>
              <a:rPr lang="en-US" sz="1400" i="1" dirty="0">
                <a:solidFill>
                  <a:schemeClr val="tx2"/>
                </a:solidFill>
              </a:rPr>
              <a:t>Input (JD + resumes) → Parse &amp; clean → TF-IDF vectors → Cosine + skill score → Ranked shortlist → Dashboard + Gmail alert</a:t>
            </a:r>
            <a:endParaRPr lang="en-US" sz="1400" dirty="0"/>
          </a:p>
        </p:txBody>
      </p:sp>
      <p:sp>
        <p:nvSpPr>
          <p:cNvPr id="5" name="Text 2"/>
          <p:cNvSpPr txBox="1"/>
          <p:nvPr/>
        </p:nvSpPr>
        <p:spPr>
          <a:xfrm>
            <a:off x="8046720" y="1371600"/>
            <a:ext cx="3566160" cy="365760"/>
          </a:xfrm>
          <a:prstGeom prst="rect">
            <a:avLst/>
          </a:prstGeom>
          <a:noFill/>
          <a:ln/>
        </p:spPr>
        <p:txBody>
          <a:bodyPr wrap="square" lIns="0" tIns="0" rIns="0" bIns="0" rtlCol="0" anchor="t"/>
          <a:lstStyle/>
          <a:p>
            <a:pPr marL="0" indent="0">
              <a:buNone/>
            </a:pPr>
            <a:r>
              <a:rPr lang="en-US" sz="2000" b="1" dirty="0">
                <a:solidFill>
                  <a:schemeClr val="tx2"/>
                </a:solidFill>
              </a:rPr>
              <a:t>Components</a:t>
            </a:r>
            <a:endParaRPr lang="en-US" sz="2000" dirty="0"/>
          </a:p>
        </p:txBody>
      </p:sp>
      <p:sp>
        <p:nvSpPr>
          <p:cNvPr id="6" name="Card"/>
          <p:cNvSpPr/>
          <p:nvPr/>
        </p:nvSpPr>
        <p:spPr>
          <a:xfrm>
            <a:off x="8046720" y="1874520"/>
            <a:ext cx="3593592" cy="960120"/>
          </a:xfrm>
          <a:prstGeom prst="roundRect">
            <a:avLst>
              <a:gd name="adj" fmla="val 11429"/>
            </a:avLst>
          </a:prstGeom>
          <a:solidFill>
            <a:schemeClr val="bg2"/>
          </a:solidFill>
          <a:ln/>
        </p:spPr>
        <p:txBody>
          <a:bodyPr/>
          <a:lstStyle/>
          <a:p>
            <a:endParaRPr lang="en-IN"/>
          </a:p>
        </p:txBody>
      </p:sp>
      <p:sp>
        <p:nvSpPr>
          <p:cNvPr id="7" name="Number badge"/>
          <p:cNvSpPr/>
          <p:nvPr/>
        </p:nvSpPr>
        <p:spPr>
          <a:xfrm>
            <a:off x="8229600" y="2103120"/>
            <a:ext cx="502920" cy="50292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8" name="Text 5"/>
          <p:cNvSpPr txBox="1"/>
          <p:nvPr/>
        </p:nvSpPr>
        <p:spPr>
          <a:xfrm>
            <a:off x="8915400" y="2011680"/>
            <a:ext cx="2606040" cy="731520"/>
          </a:xfrm>
          <a:prstGeom prst="rect">
            <a:avLst/>
          </a:prstGeom>
          <a:noFill/>
          <a:ln/>
        </p:spPr>
        <p:txBody>
          <a:bodyPr wrap="square" lIns="0" tIns="0" rIns="0" bIns="0" rtlCol="0" anchor="ctr"/>
          <a:lstStyle/>
          <a:p>
            <a:pPr marL="0" indent="0">
              <a:buNone/>
            </a:pPr>
            <a:r>
              <a:rPr lang="en-US" sz="1400" b="1" dirty="0">
                <a:solidFill>
                  <a:schemeClr val="tx2"/>
                </a:solidFill>
              </a:rPr>
              <a:t>Resume Parser</a:t>
            </a:r>
            <a:endParaRPr lang="en-US" sz="1400" dirty="0"/>
          </a:p>
          <a:p>
            <a:pPr marL="0" indent="0">
              <a:buNone/>
            </a:pPr>
            <a:r>
              <a:rPr lang="en-US" sz="1400" dirty="0">
                <a:solidFill>
                  <a:schemeClr val="tx1"/>
                </a:solidFill>
              </a:rPr>
              <a:t>Extracts text from PDF, DOCX, TXT</a:t>
            </a:r>
            <a:endParaRPr lang="en-US" sz="1400" dirty="0"/>
          </a:p>
        </p:txBody>
      </p:sp>
      <p:sp>
        <p:nvSpPr>
          <p:cNvPr id="9" name="Card"/>
          <p:cNvSpPr/>
          <p:nvPr/>
        </p:nvSpPr>
        <p:spPr>
          <a:xfrm>
            <a:off x="8046720" y="2953512"/>
            <a:ext cx="3593592" cy="960120"/>
          </a:xfrm>
          <a:prstGeom prst="roundRect">
            <a:avLst>
              <a:gd name="adj" fmla="val 11429"/>
            </a:avLst>
          </a:prstGeom>
          <a:solidFill>
            <a:schemeClr val="bg2"/>
          </a:solidFill>
          <a:ln/>
        </p:spPr>
        <p:txBody>
          <a:bodyPr/>
          <a:lstStyle/>
          <a:p>
            <a:endParaRPr lang="en-IN"/>
          </a:p>
        </p:txBody>
      </p:sp>
      <p:sp>
        <p:nvSpPr>
          <p:cNvPr id="10" name="Number badge"/>
          <p:cNvSpPr/>
          <p:nvPr/>
        </p:nvSpPr>
        <p:spPr>
          <a:xfrm>
            <a:off x="8229600" y="3182112"/>
            <a:ext cx="502920" cy="50292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8"/>
          <p:cNvSpPr txBox="1"/>
          <p:nvPr/>
        </p:nvSpPr>
        <p:spPr>
          <a:xfrm>
            <a:off x="8915400" y="3090672"/>
            <a:ext cx="2606040" cy="731520"/>
          </a:xfrm>
          <a:prstGeom prst="rect">
            <a:avLst/>
          </a:prstGeom>
          <a:noFill/>
          <a:ln/>
        </p:spPr>
        <p:txBody>
          <a:bodyPr wrap="square" lIns="0" tIns="0" rIns="0" bIns="0" rtlCol="0" anchor="ctr"/>
          <a:lstStyle/>
          <a:p>
            <a:pPr marL="0" indent="0">
              <a:buNone/>
            </a:pPr>
            <a:r>
              <a:rPr lang="en-US" sz="1400" b="1" dirty="0">
                <a:solidFill>
                  <a:schemeClr val="tx2"/>
                </a:solidFill>
              </a:rPr>
              <a:t>Ranking Engine</a:t>
            </a:r>
            <a:endParaRPr lang="en-US" sz="1400" dirty="0"/>
          </a:p>
          <a:p>
            <a:pPr marL="0" indent="0">
              <a:buNone/>
            </a:pPr>
            <a:r>
              <a:rPr lang="en-US" sz="1400" dirty="0">
                <a:solidFill>
                  <a:schemeClr val="tx1"/>
                </a:solidFill>
              </a:rPr>
              <a:t>TF-IDF, cosine similarity, skill match</a:t>
            </a:r>
            <a:endParaRPr lang="en-US" sz="1400" dirty="0"/>
          </a:p>
        </p:txBody>
      </p:sp>
      <p:sp>
        <p:nvSpPr>
          <p:cNvPr id="12" name="Card"/>
          <p:cNvSpPr/>
          <p:nvPr/>
        </p:nvSpPr>
        <p:spPr>
          <a:xfrm>
            <a:off x="8046720" y="4032504"/>
            <a:ext cx="3593592" cy="960120"/>
          </a:xfrm>
          <a:prstGeom prst="roundRect">
            <a:avLst>
              <a:gd name="adj" fmla="val 11429"/>
            </a:avLst>
          </a:prstGeom>
          <a:solidFill>
            <a:schemeClr val="bg2"/>
          </a:solidFill>
          <a:ln/>
        </p:spPr>
        <p:txBody>
          <a:bodyPr/>
          <a:lstStyle/>
          <a:p>
            <a:endParaRPr lang="en-IN"/>
          </a:p>
        </p:txBody>
      </p:sp>
      <p:sp>
        <p:nvSpPr>
          <p:cNvPr id="13" name="Number badge"/>
          <p:cNvSpPr/>
          <p:nvPr/>
        </p:nvSpPr>
        <p:spPr>
          <a:xfrm>
            <a:off x="8229600" y="4261104"/>
            <a:ext cx="502920" cy="50292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4" name="Text 11"/>
          <p:cNvSpPr txBox="1"/>
          <p:nvPr/>
        </p:nvSpPr>
        <p:spPr>
          <a:xfrm>
            <a:off x="8915400" y="4169664"/>
            <a:ext cx="2606040" cy="731520"/>
          </a:xfrm>
          <a:prstGeom prst="rect">
            <a:avLst/>
          </a:prstGeom>
          <a:noFill/>
          <a:ln/>
        </p:spPr>
        <p:txBody>
          <a:bodyPr wrap="square" lIns="0" tIns="0" rIns="0" bIns="0" rtlCol="0" anchor="ctr"/>
          <a:lstStyle/>
          <a:p>
            <a:pPr marL="0" indent="0">
              <a:buNone/>
            </a:pPr>
            <a:r>
              <a:rPr lang="en-US" sz="1400" b="1" dirty="0">
                <a:solidFill>
                  <a:schemeClr val="tx2"/>
                </a:solidFill>
              </a:rPr>
              <a:t>Auth &amp; Database</a:t>
            </a:r>
            <a:endParaRPr lang="en-US" sz="1400" dirty="0"/>
          </a:p>
          <a:p>
            <a:pPr marL="0" indent="0">
              <a:buNone/>
            </a:pPr>
            <a:r>
              <a:rPr lang="en-US" sz="1400" dirty="0">
                <a:solidFill>
                  <a:schemeClr val="tx1"/>
                </a:solidFill>
              </a:rPr>
              <a:t>Sign-up/login, hashed passwords, SQLite</a:t>
            </a:r>
            <a:endParaRPr lang="en-US" sz="1400" dirty="0"/>
          </a:p>
        </p:txBody>
      </p:sp>
      <p:sp>
        <p:nvSpPr>
          <p:cNvPr id="15" name="Card"/>
          <p:cNvSpPr/>
          <p:nvPr/>
        </p:nvSpPr>
        <p:spPr>
          <a:xfrm>
            <a:off x="8046720" y="5111496"/>
            <a:ext cx="3593592" cy="960120"/>
          </a:xfrm>
          <a:prstGeom prst="roundRect">
            <a:avLst>
              <a:gd name="adj" fmla="val 11429"/>
            </a:avLst>
          </a:prstGeom>
          <a:solidFill>
            <a:schemeClr val="bg2"/>
          </a:solidFill>
          <a:ln/>
        </p:spPr>
        <p:txBody>
          <a:bodyPr/>
          <a:lstStyle/>
          <a:p>
            <a:endParaRPr lang="en-IN"/>
          </a:p>
        </p:txBody>
      </p:sp>
      <p:sp>
        <p:nvSpPr>
          <p:cNvPr id="16" name="Number badge"/>
          <p:cNvSpPr/>
          <p:nvPr/>
        </p:nvSpPr>
        <p:spPr>
          <a:xfrm>
            <a:off x="8229600" y="5340096"/>
            <a:ext cx="502920" cy="50292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7" name="Text 14"/>
          <p:cNvSpPr txBox="1"/>
          <p:nvPr/>
        </p:nvSpPr>
        <p:spPr>
          <a:xfrm>
            <a:off x="8915400" y="5248656"/>
            <a:ext cx="2606040" cy="731520"/>
          </a:xfrm>
          <a:prstGeom prst="rect">
            <a:avLst/>
          </a:prstGeom>
          <a:noFill/>
          <a:ln/>
        </p:spPr>
        <p:txBody>
          <a:bodyPr wrap="square" lIns="0" tIns="0" rIns="0" bIns="0" rtlCol="0" anchor="ctr"/>
          <a:lstStyle/>
          <a:p>
            <a:pPr marL="0" indent="0">
              <a:buNone/>
            </a:pPr>
            <a:r>
              <a:rPr lang="en-US" sz="1400" b="1" dirty="0">
                <a:solidFill>
                  <a:schemeClr val="tx2"/>
                </a:solidFill>
              </a:rPr>
              <a:t>Dashboard &amp; Notifier</a:t>
            </a:r>
            <a:endParaRPr lang="en-US" sz="1400" dirty="0"/>
          </a:p>
          <a:p>
            <a:pPr marL="0" indent="0">
              <a:buNone/>
            </a:pPr>
            <a:r>
              <a:rPr lang="en-US" sz="1400" dirty="0">
                <a:solidFill>
                  <a:schemeClr val="tx1"/>
                </a:solidFill>
              </a:rPr>
              <a:t>Ranked table, history, Gmail SMTP alerts</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Hardware &amp; Software Requirements</a:t>
            </a:r>
            <a:endParaRPr lang="en-US" sz="3200" dirty="0"/>
          </a:p>
        </p:txBody>
      </p:sp>
      <p:sp>
        <p:nvSpPr>
          <p:cNvPr id="4" name="Card"/>
          <p:cNvSpPr/>
          <p:nvPr/>
        </p:nvSpPr>
        <p:spPr>
          <a:xfrm>
            <a:off x="548640" y="1371600"/>
            <a:ext cx="3520440" cy="3566160"/>
          </a:xfrm>
          <a:prstGeom prst="roundRect">
            <a:avLst>
              <a:gd name="adj" fmla="val 3117"/>
            </a:avLst>
          </a:prstGeom>
          <a:solidFill>
            <a:schemeClr val="bg2"/>
          </a:solidFill>
          <a:ln/>
        </p:spPr>
        <p:txBody>
          <a:bodyPr/>
          <a:lstStyle/>
          <a:p>
            <a:endParaRPr lang="en-IN"/>
          </a:p>
        </p:txBody>
      </p:sp>
      <p:sp>
        <p:nvSpPr>
          <p:cNvPr id="5" name="Icon badge"/>
          <p:cNvSpPr/>
          <p:nvPr/>
        </p:nvSpPr>
        <p:spPr>
          <a:xfrm>
            <a:off x="822960" y="1554480"/>
            <a:ext cx="502920" cy="502920"/>
          </a:xfrm>
          <a:prstGeom prst="ellipse">
            <a:avLst/>
          </a:prstGeom>
          <a:solidFill>
            <a:schemeClr val="accent1"/>
          </a:solidFill>
          <a:ln/>
        </p:spPr>
        <p:txBody>
          <a:bodyPr/>
          <a:lstStyle/>
          <a:p>
            <a:endParaRPr lang="en-IN"/>
          </a:p>
        </p:txBody>
      </p:sp>
      <p:pic>
        <p:nvPicPr>
          <p:cNvPr id="6" name="Image 0" descr="Microchip icon"/>
          <p:cNvPicPr>
            <a:picLocks noChangeAspect="1"/>
          </p:cNvPicPr>
          <p:nvPr/>
        </p:nvPicPr>
        <p:blipFill>
          <a:blip r:embed="rId3"/>
          <a:stretch>
            <a:fillRect/>
          </a:stretch>
        </p:blipFill>
        <p:spPr>
          <a:xfrm>
            <a:off x="933602" y="1665122"/>
            <a:ext cx="281635" cy="281635"/>
          </a:xfrm>
          <a:prstGeom prst="rect">
            <a:avLst/>
          </a:prstGeom>
        </p:spPr>
      </p:pic>
      <p:sp>
        <p:nvSpPr>
          <p:cNvPr id="7" name="Text 3"/>
          <p:cNvSpPr txBox="1"/>
          <p:nvPr/>
        </p:nvSpPr>
        <p:spPr>
          <a:xfrm>
            <a:off x="1508760" y="1554480"/>
            <a:ext cx="2331720" cy="502920"/>
          </a:xfrm>
          <a:prstGeom prst="rect">
            <a:avLst/>
          </a:prstGeom>
          <a:noFill/>
          <a:ln/>
        </p:spPr>
        <p:txBody>
          <a:bodyPr wrap="square" lIns="0" tIns="0" rIns="0" bIns="0" rtlCol="0" anchor="ctr"/>
          <a:lstStyle/>
          <a:p>
            <a:pPr marL="0" indent="0">
              <a:buNone/>
            </a:pPr>
            <a:r>
              <a:rPr lang="en-US" sz="1800" b="1" dirty="0">
                <a:solidFill>
                  <a:schemeClr val="tx2"/>
                </a:solidFill>
              </a:rPr>
              <a:t>Hardware</a:t>
            </a:r>
            <a:endParaRPr lang="en-US" sz="1800" dirty="0"/>
          </a:p>
        </p:txBody>
      </p:sp>
      <p:sp>
        <p:nvSpPr>
          <p:cNvPr id="8" name="Text 4"/>
          <p:cNvSpPr txBox="1"/>
          <p:nvPr/>
        </p:nvSpPr>
        <p:spPr>
          <a:xfrm>
            <a:off x="822960" y="2240280"/>
            <a:ext cx="297180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Intel i3/Ryzen 3 or above, 4 GB RAM (8 GB recommended)</a:t>
            </a:r>
            <a:endParaRPr lang="en-US" sz="1400" dirty="0"/>
          </a:p>
          <a:p>
            <a:pPr marL="342900" indent="-342900">
              <a:spcAft>
                <a:spcPts val="600"/>
              </a:spcAft>
              <a:buSzPct val="100000"/>
              <a:buChar char="•"/>
            </a:pPr>
            <a:r>
              <a:rPr lang="en-US" sz="1400" dirty="0">
                <a:solidFill>
                  <a:schemeClr val="tx1"/>
                </a:solidFill>
              </a:rPr>
              <a:t>1 GB free disk space</a:t>
            </a:r>
            <a:endParaRPr lang="en-US" sz="1400" dirty="0"/>
          </a:p>
          <a:p>
            <a:pPr marL="342900" indent="-342900">
              <a:spcAft>
                <a:spcPts val="600"/>
              </a:spcAft>
              <a:buSzPct val="100000"/>
              <a:buChar char="•"/>
            </a:pPr>
            <a:r>
              <a:rPr lang="en-US" sz="1400" dirty="0">
                <a:solidFill>
                  <a:schemeClr val="tx1"/>
                </a:solidFill>
              </a:rPr>
              <a:t>No special devices required</a:t>
            </a:r>
            <a:endParaRPr lang="en-US" sz="1400" dirty="0"/>
          </a:p>
          <a:p>
            <a:pPr marL="342900" indent="-342900">
              <a:spcAft>
                <a:spcPts val="600"/>
              </a:spcAft>
              <a:buSzPct val="100000"/>
              <a:buChar char="•"/>
            </a:pPr>
            <a:r>
              <a:rPr lang="en-US" sz="1400" dirty="0">
                <a:solidFill>
                  <a:schemeClr val="tx1"/>
                </a:solidFill>
              </a:rPr>
              <a:t>Internet for Gmail SMTP (port 465)</a:t>
            </a:r>
            <a:endParaRPr lang="en-US" sz="1400" dirty="0"/>
          </a:p>
        </p:txBody>
      </p:sp>
      <p:sp>
        <p:nvSpPr>
          <p:cNvPr id="9" name="Card"/>
          <p:cNvSpPr/>
          <p:nvPr/>
        </p:nvSpPr>
        <p:spPr>
          <a:xfrm>
            <a:off x="4334256" y="1371600"/>
            <a:ext cx="3520440" cy="3566160"/>
          </a:xfrm>
          <a:prstGeom prst="roundRect">
            <a:avLst>
              <a:gd name="adj" fmla="val 3117"/>
            </a:avLst>
          </a:prstGeom>
          <a:solidFill>
            <a:schemeClr val="bg2"/>
          </a:solidFill>
          <a:ln/>
        </p:spPr>
        <p:txBody>
          <a:bodyPr/>
          <a:lstStyle/>
          <a:p>
            <a:endParaRPr lang="en-IN"/>
          </a:p>
        </p:txBody>
      </p:sp>
      <p:sp>
        <p:nvSpPr>
          <p:cNvPr id="10" name="Icon badge"/>
          <p:cNvSpPr/>
          <p:nvPr/>
        </p:nvSpPr>
        <p:spPr>
          <a:xfrm>
            <a:off x="4608576" y="1554480"/>
            <a:ext cx="502920" cy="502920"/>
          </a:xfrm>
          <a:prstGeom prst="ellipse">
            <a:avLst/>
          </a:prstGeom>
          <a:solidFill>
            <a:schemeClr val="accent1"/>
          </a:solidFill>
          <a:ln/>
        </p:spPr>
        <p:txBody>
          <a:bodyPr/>
          <a:lstStyle/>
          <a:p>
            <a:endParaRPr lang="en-IN"/>
          </a:p>
        </p:txBody>
      </p:sp>
      <p:pic>
        <p:nvPicPr>
          <p:cNvPr id="11" name="Image 1" descr="LaptopCode icon"/>
          <p:cNvPicPr>
            <a:picLocks noChangeAspect="1"/>
          </p:cNvPicPr>
          <p:nvPr/>
        </p:nvPicPr>
        <p:blipFill>
          <a:blip r:embed="rId4"/>
          <a:stretch>
            <a:fillRect/>
          </a:stretch>
        </p:blipFill>
        <p:spPr>
          <a:xfrm>
            <a:off x="4719218" y="1665122"/>
            <a:ext cx="281635" cy="281635"/>
          </a:xfrm>
          <a:prstGeom prst="rect">
            <a:avLst/>
          </a:prstGeom>
        </p:spPr>
      </p:pic>
      <p:sp>
        <p:nvSpPr>
          <p:cNvPr id="12" name="Text 7"/>
          <p:cNvSpPr txBox="1"/>
          <p:nvPr/>
        </p:nvSpPr>
        <p:spPr>
          <a:xfrm>
            <a:off x="5294376" y="1554480"/>
            <a:ext cx="2331720" cy="502920"/>
          </a:xfrm>
          <a:prstGeom prst="rect">
            <a:avLst/>
          </a:prstGeom>
          <a:noFill/>
          <a:ln/>
        </p:spPr>
        <p:txBody>
          <a:bodyPr wrap="square" lIns="0" tIns="0" rIns="0" bIns="0" rtlCol="0" anchor="ctr"/>
          <a:lstStyle/>
          <a:p>
            <a:pPr marL="0" indent="0">
              <a:buNone/>
            </a:pPr>
            <a:r>
              <a:rPr lang="en-US" sz="1800" b="1" dirty="0">
                <a:solidFill>
                  <a:schemeClr val="tx2"/>
                </a:solidFill>
              </a:rPr>
              <a:t>Software &amp; Tools</a:t>
            </a:r>
            <a:endParaRPr lang="en-US" sz="1800" dirty="0"/>
          </a:p>
        </p:txBody>
      </p:sp>
      <p:sp>
        <p:nvSpPr>
          <p:cNvPr id="13" name="Text 8"/>
          <p:cNvSpPr txBox="1"/>
          <p:nvPr/>
        </p:nvSpPr>
        <p:spPr>
          <a:xfrm>
            <a:off x="4608576" y="2240280"/>
            <a:ext cx="297180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Windows 10/11, Linux or macOS</a:t>
            </a:r>
            <a:endParaRPr lang="en-US" sz="1400" dirty="0"/>
          </a:p>
          <a:p>
            <a:pPr marL="342900" indent="-342900">
              <a:spcAft>
                <a:spcPts val="600"/>
              </a:spcAft>
              <a:buSzPct val="100000"/>
              <a:buChar char="•"/>
            </a:pPr>
            <a:r>
              <a:rPr lang="en-US" sz="1400" dirty="0">
                <a:solidFill>
                  <a:schemeClr val="tx1"/>
                </a:solidFill>
              </a:rPr>
              <a:t>Python 3.10+</a:t>
            </a:r>
            <a:endParaRPr lang="en-US" sz="1400" dirty="0"/>
          </a:p>
          <a:p>
            <a:pPr marL="342900" indent="-342900">
              <a:spcAft>
                <a:spcPts val="600"/>
              </a:spcAft>
              <a:buSzPct val="100000"/>
              <a:buChar char="•"/>
            </a:pPr>
            <a:r>
              <a:rPr lang="en-US" sz="1400" dirty="0">
                <a:solidFill>
                  <a:schemeClr val="tx1"/>
                </a:solidFill>
              </a:rPr>
              <a:t>VS Code / Jupyter</a:t>
            </a:r>
            <a:endParaRPr lang="en-US" sz="1400" dirty="0"/>
          </a:p>
          <a:p>
            <a:pPr marL="342900" indent="-342900">
              <a:spcAft>
                <a:spcPts val="600"/>
              </a:spcAft>
              <a:buSzPct val="100000"/>
              <a:buChar char="•"/>
            </a:pPr>
            <a:r>
              <a:rPr lang="en-US" sz="1400" dirty="0">
                <a:solidFill>
                  <a:schemeClr val="tx1"/>
                </a:solidFill>
              </a:rPr>
              <a:t>Git and GitHub</a:t>
            </a:r>
            <a:endParaRPr lang="en-US" sz="1400" dirty="0"/>
          </a:p>
        </p:txBody>
      </p:sp>
      <p:sp>
        <p:nvSpPr>
          <p:cNvPr id="14" name="Card"/>
          <p:cNvSpPr/>
          <p:nvPr/>
        </p:nvSpPr>
        <p:spPr>
          <a:xfrm>
            <a:off x="8119872" y="1371600"/>
            <a:ext cx="3520440" cy="3566160"/>
          </a:xfrm>
          <a:prstGeom prst="roundRect">
            <a:avLst>
              <a:gd name="adj" fmla="val 3117"/>
            </a:avLst>
          </a:prstGeom>
          <a:solidFill>
            <a:schemeClr val="bg2"/>
          </a:solidFill>
          <a:ln/>
        </p:spPr>
        <p:txBody>
          <a:bodyPr/>
          <a:lstStyle/>
          <a:p>
            <a:endParaRPr lang="en-IN"/>
          </a:p>
        </p:txBody>
      </p:sp>
      <p:sp>
        <p:nvSpPr>
          <p:cNvPr id="15" name="Icon badge"/>
          <p:cNvSpPr/>
          <p:nvPr/>
        </p:nvSpPr>
        <p:spPr>
          <a:xfrm>
            <a:off x="8394192" y="1554480"/>
            <a:ext cx="502920" cy="502920"/>
          </a:xfrm>
          <a:prstGeom prst="ellipse">
            <a:avLst/>
          </a:prstGeom>
          <a:solidFill>
            <a:schemeClr val="accent1"/>
          </a:solidFill>
          <a:ln/>
        </p:spPr>
        <p:txBody>
          <a:bodyPr/>
          <a:lstStyle/>
          <a:p>
            <a:endParaRPr lang="en-IN"/>
          </a:p>
        </p:txBody>
      </p:sp>
      <p:pic>
        <p:nvPicPr>
          <p:cNvPr id="16" name="Image 2" descr="Cubes icon"/>
          <p:cNvPicPr>
            <a:picLocks noChangeAspect="1"/>
          </p:cNvPicPr>
          <p:nvPr/>
        </p:nvPicPr>
        <p:blipFill>
          <a:blip r:embed="rId5"/>
          <a:stretch>
            <a:fillRect/>
          </a:stretch>
        </p:blipFill>
        <p:spPr>
          <a:xfrm>
            <a:off x="8504834" y="1665122"/>
            <a:ext cx="281635" cy="281635"/>
          </a:xfrm>
          <a:prstGeom prst="rect">
            <a:avLst/>
          </a:prstGeom>
        </p:spPr>
      </p:pic>
      <p:sp>
        <p:nvSpPr>
          <p:cNvPr id="17" name="Text 11"/>
          <p:cNvSpPr txBox="1"/>
          <p:nvPr/>
        </p:nvSpPr>
        <p:spPr>
          <a:xfrm>
            <a:off x="9079992" y="1554480"/>
            <a:ext cx="2331720" cy="502920"/>
          </a:xfrm>
          <a:prstGeom prst="rect">
            <a:avLst/>
          </a:prstGeom>
          <a:noFill/>
          <a:ln/>
        </p:spPr>
        <p:txBody>
          <a:bodyPr wrap="square" lIns="0" tIns="0" rIns="0" bIns="0" rtlCol="0" anchor="ctr"/>
          <a:lstStyle/>
          <a:p>
            <a:pPr marL="0" indent="0">
              <a:buNone/>
            </a:pPr>
            <a:r>
              <a:rPr lang="en-US" sz="1800" b="1" dirty="0">
                <a:solidFill>
                  <a:schemeClr val="tx2"/>
                </a:solidFill>
              </a:rPr>
              <a:t>Libraries / Frameworks</a:t>
            </a:r>
            <a:endParaRPr lang="en-US" sz="1800" dirty="0"/>
          </a:p>
        </p:txBody>
      </p:sp>
      <p:sp>
        <p:nvSpPr>
          <p:cNvPr id="18" name="Text 12"/>
          <p:cNvSpPr txBox="1"/>
          <p:nvPr/>
        </p:nvSpPr>
        <p:spPr>
          <a:xfrm>
            <a:off x="8394192" y="2240280"/>
            <a:ext cx="297180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Flask, Werkzeug</a:t>
            </a:r>
            <a:endParaRPr lang="en-US" sz="1400" dirty="0"/>
          </a:p>
          <a:p>
            <a:pPr marL="342900" indent="-342900">
              <a:spcAft>
                <a:spcPts val="600"/>
              </a:spcAft>
              <a:buSzPct val="100000"/>
              <a:buChar char="•"/>
            </a:pPr>
            <a:r>
              <a:rPr lang="en-US" sz="1400" dirty="0">
                <a:solidFill>
                  <a:schemeClr val="tx1"/>
                </a:solidFill>
              </a:rPr>
              <a:t>scikit-learn (TF-IDF, cosine)</a:t>
            </a:r>
            <a:endParaRPr lang="en-US" sz="1400" dirty="0"/>
          </a:p>
          <a:p>
            <a:pPr marL="342900" indent="-342900">
              <a:spcAft>
                <a:spcPts val="600"/>
              </a:spcAft>
              <a:buSzPct val="100000"/>
              <a:buChar char="•"/>
            </a:pPr>
            <a:r>
              <a:rPr lang="en-US" sz="1400" dirty="0">
                <a:solidFill>
                  <a:schemeClr val="tx1"/>
                </a:solidFill>
              </a:rPr>
              <a:t>pypdf, python-docx</a:t>
            </a:r>
            <a:endParaRPr lang="en-US" sz="1400" dirty="0"/>
          </a:p>
          <a:p>
            <a:pPr marL="342900" indent="-342900">
              <a:spcAft>
                <a:spcPts val="600"/>
              </a:spcAft>
              <a:buSzPct val="100000"/>
              <a:buChar char="•"/>
            </a:pPr>
            <a:r>
              <a:rPr lang="en-US" sz="1400" dirty="0">
                <a:solidFill>
                  <a:schemeClr val="tx1"/>
                </a:solidFill>
              </a:rPr>
              <a:t>SQLite database, Gmail SMTP</a:t>
            </a:r>
            <a:endParaRPr lang="en-US" sz="1400" dirty="0"/>
          </a:p>
        </p:txBody>
      </p:sp>
      <p:sp>
        <p:nvSpPr>
          <p:cNvPr id="19" name="Card"/>
          <p:cNvSpPr/>
          <p:nvPr/>
        </p:nvSpPr>
        <p:spPr>
          <a:xfrm>
            <a:off x="548640" y="5212080"/>
            <a:ext cx="11091672" cy="914400"/>
          </a:xfrm>
          <a:prstGeom prst="roundRect">
            <a:avLst>
              <a:gd name="adj" fmla="val 12000"/>
            </a:avLst>
          </a:prstGeom>
          <a:solidFill>
            <a:schemeClr val="bg2"/>
          </a:solidFill>
          <a:ln/>
        </p:spPr>
        <p:txBody>
          <a:bodyPr/>
          <a:lstStyle/>
          <a:p>
            <a:endParaRPr lang="en-IN"/>
          </a:p>
        </p:txBody>
      </p:sp>
      <p:sp>
        <p:nvSpPr>
          <p:cNvPr id="20" name="Text 14"/>
          <p:cNvSpPr txBox="1"/>
          <p:nvPr/>
        </p:nvSpPr>
        <p:spPr>
          <a:xfrm>
            <a:off x="822960" y="5394960"/>
            <a:ext cx="10543032" cy="502920"/>
          </a:xfrm>
          <a:prstGeom prst="rect">
            <a:avLst/>
          </a:prstGeom>
          <a:noFill/>
          <a:ln/>
        </p:spPr>
        <p:txBody>
          <a:bodyPr wrap="square" lIns="0" tIns="0" rIns="0" bIns="0" rtlCol="0" anchor="ctr"/>
          <a:lstStyle/>
          <a:p>
            <a:pPr marL="0" indent="0">
              <a:buNone/>
            </a:pPr>
            <a:r>
              <a:rPr lang="en-US" sz="1800" b="1" dirty="0">
                <a:solidFill>
                  <a:schemeClr val="tx2"/>
                </a:solidFill>
              </a:rPr>
              <a:t>Deployment / Platform:  Local machine (Flask server); deployable to Render / PythonAnywhere</a:t>
            </a:r>
            <a:endParaRPr lang="en-US" sz="1800" dirty="0"/>
          </a:p>
        </p:txBody>
      </p:sp>
      <p:sp>
        <p:nvSpPr>
          <p:cNvPr id="21" name="Text 15"/>
          <p:cNvSpPr txBox="1"/>
          <p:nvPr/>
        </p:nvSpPr>
        <p:spPr>
          <a:xfrm>
            <a:off x="822960" y="6080760"/>
            <a:ext cx="10543032" cy="0"/>
          </a:xfrm>
          <a:prstGeom prst="rect">
            <a:avLst/>
          </a:prstGeom>
          <a:noFill/>
          <a:ln/>
        </p:spPr>
        <p:txBody>
          <a:bodyPr wrap="square" lIns="0" tIns="0" rIns="0" bIns="0" rtlCol="0" anchor="t"/>
          <a:lstStyle/>
          <a:p>
            <a:pPr marL="0" indent="0">
              <a:buNone/>
            </a:pP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Dataset / Data Understanding</a:t>
            </a:r>
            <a:endParaRPr lang="en-US" sz="3200" dirty="0"/>
          </a:p>
        </p:txBody>
      </p:sp>
      <p:sp>
        <p:nvSpPr>
          <p:cNvPr id="4" name="Card"/>
          <p:cNvSpPr/>
          <p:nvPr/>
        </p:nvSpPr>
        <p:spPr>
          <a:xfrm>
            <a:off x="548640" y="1371600"/>
            <a:ext cx="2651760" cy="1417320"/>
          </a:xfrm>
          <a:prstGeom prst="roundRect">
            <a:avLst>
              <a:gd name="adj" fmla="val 7742"/>
            </a:avLst>
          </a:prstGeom>
          <a:solidFill>
            <a:schemeClr val="bg2"/>
          </a:solidFill>
          <a:ln/>
        </p:spPr>
        <p:txBody>
          <a:bodyPr/>
          <a:lstStyle/>
          <a:p>
            <a:endParaRPr lang="en-IN"/>
          </a:p>
        </p:txBody>
      </p:sp>
      <p:sp>
        <p:nvSpPr>
          <p:cNvPr id="5" name="Text 2"/>
          <p:cNvSpPr txBox="1"/>
          <p:nvPr/>
        </p:nvSpPr>
        <p:spPr>
          <a:xfrm>
            <a:off x="777240" y="1554480"/>
            <a:ext cx="2194560" cy="640080"/>
          </a:xfrm>
          <a:prstGeom prst="rect">
            <a:avLst/>
          </a:prstGeom>
          <a:noFill/>
          <a:ln/>
        </p:spPr>
        <p:txBody>
          <a:bodyPr wrap="square" lIns="0" tIns="0" rIns="0" bIns="0" rtlCol="0" anchor="t"/>
          <a:lstStyle/>
          <a:p>
            <a:pPr marL="0" indent="0">
              <a:buNone/>
            </a:pPr>
            <a:r>
              <a:rPr lang="en-US" sz="3600" b="1" dirty="0">
                <a:solidFill>
                  <a:schemeClr val="accent1"/>
                </a:solidFill>
                <a:latin typeface="Cambria" pitchFamily="34" charset="0"/>
                <a:ea typeface="Cambria" pitchFamily="34" charset="-122"/>
                <a:cs typeface="Cambria" pitchFamily="34" charset="-120"/>
              </a:rPr>
              <a:t>962</a:t>
            </a:r>
            <a:endParaRPr lang="en-US" sz="3600" dirty="0"/>
          </a:p>
        </p:txBody>
      </p:sp>
      <p:sp>
        <p:nvSpPr>
          <p:cNvPr id="6" name="Text 3"/>
          <p:cNvSpPr txBox="1"/>
          <p:nvPr/>
        </p:nvSpPr>
        <p:spPr>
          <a:xfrm>
            <a:off x="777240" y="2240280"/>
            <a:ext cx="2194560" cy="365760"/>
          </a:xfrm>
          <a:prstGeom prst="rect">
            <a:avLst/>
          </a:prstGeom>
          <a:noFill/>
          <a:ln/>
        </p:spPr>
        <p:txBody>
          <a:bodyPr wrap="square" lIns="0" tIns="0" rIns="0" bIns="0" rtlCol="0" anchor="t"/>
          <a:lstStyle/>
          <a:p>
            <a:pPr marL="0" indent="0">
              <a:buNone/>
            </a:pPr>
            <a:r>
              <a:rPr lang="en-US" sz="1600" dirty="0">
                <a:solidFill>
                  <a:schemeClr val="tx1"/>
                </a:solidFill>
              </a:rPr>
              <a:t>Records (rows)</a:t>
            </a:r>
            <a:endParaRPr lang="en-US" sz="1600" dirty="0"/>
          </a:p>
        </p:txBody>
      </p:sp>
      <p:sp>
        <p:nvSpPr>
          <p:cNvPr id="7" name="Card"/>
          <p:cNvSpPr/>
          <p:nvPr/>
        </p:nvSpPr>
        <p:spPr>
          <a:xfrm>
            <a:off x="3429000" y="1371600"/>
            <a:ext cx="2651760" cy="1417320"/>
          </a:xfrm>
          <a:prstGeom prst="roundRect">
            <a:avLst>
              <a:gd name="adj" fmla="val 7742"/>
            </a:avLst>
          </a:prstGeom>
          <a:solidFill>
            <a:schemeClr val="bg2"/>
          </a:solidFill>
          <a:ln/>
        </p:spPr>
        <p:txBody>
          <a:bodyPr/>
          <a:lstStyle/>
          <a:p>
            <a:endParaRPr lang="en-IN"/>
          </a:p>
        </p:txBody>
      </p:sp>
      <p:sp>
        <p:nvSpPr>
          <p:cNvPr id="8" name="Text 5"/>
          <p:cNvSpPr txBox="1"/>
          <p:nvPr/>
        </p:nvSpPr>
        <p:spPr>
          <a:xfrm>
            <a:off x="3657600" y="1554480"/>
            <a:ext cx="2194560" cy="640080"/>
          </a:xfrm>
          <a:prstGeom prst="rect">
            <a:avLst/>
          </a:prstGeom>
          <a:noFill/>
          <a:ln/>
        </p:spPr>
        <p:txBody>
          <a:bodyPr wrap="square" lIns="0" tIns="0" rIns="0" bIns="0" rtlCol="0" anchor="t"/>
          <a:lstStyle/>
          <a:p>
            <a:pPr marL="0" indent="0">
              <a:buNone/>
            </a:pPr>
            <a:r>
              <a:rPr lang="en-US" sz="3600" b="1" dirty="0">
                <a:solidFill>
                  <a:schemeClr val="accent1"/>
                </a:solidFill>
                <a:latin typeface="Cambria" pitchFamily="34" charset="0"/>
                <a:ea typeface="Cambria" pitchFamily="34" charset="-122"/>
                <a:cs typeface="Cambria" pitchFamily="34" charset="-120"/>
              </a:rPr>
              <a:t>2</a:t>
            </a:r>
            <a:endParaRPr lang="en-US" sz="3600" dirty="0"/>
          </a:p>
        </p:txBody>
      </p:sp>
      <p:sp>
        <p:nvSpPr>
          <p:cNvPr id="9" name="Text 6"/>
          <p:cNvSpPr txBox="1"/>
          <p:nvPr/>
        </p:nvSpPr>
        <p:spPr>
          <a:xfrm>
            <a:off x="3657600" y="2240280"/>
            <a:ext cx="2194560" cy="365760"/>
          </a:xfrm>
          <a:prstGeom prst="rect">
            <a:avLst/>
          </a:prstGeom>
          <a:noFill/>
          <a:ln/>
        </p:spPr>
        <p:txBody>
          <a:bodyPr wrap="square" lIns="0" tIns="0" rIns="0" bIns="0" rtlCol="0" anchor="t"/>
          <a:lstStyle/>
          <a:p>
            <a:pPr marL="0" indent="0">
              <a:buNone/>
            </a:pPr>
            <a:r>
              <a:rPr lang="en-US" sz="1600" dirty="0">
                <a:solidFill>
                  <a:schemeClr val="tx1"/>
                </a:solidFill>
              </a:rPr>
              <a:t>Features (columns)</a:t>
            </a:r>
            <a:endParaRPr lang="en-US" sz="1600" dirty="0"/>
          </a:p>
        </p:txBody>
      </p:sp>
      <p:sp>
        <p:nvSpPr>
          <p:cNvPr id="10" name="Card"/>
          <p:cNvSpPr/>
          <p:nvPr/>
        </p:nvSpPr>
        <p:spPr>
          <a:xfrm>
            <a:off x="548640" y="3017520"/>
            <a:ext cx="2651760" cy="1417320"/>
          </a:xfrm>
          <a:prstGeom prst="roundRect">
            <a:avLst>
              <a:gd name="adj" fmla="val 7742"/>
            </a:avLst>
          </a:prstGeom>
          <a:solidFill>
            <a:schemeClr val="bg2"/>
          </a:solidFill>
          <a:ln/>
        </p:spPr>
        <p:txBody>
          <a:bodyPr/>
          <a:lstStyle/>
          <a:p>
            <a:endParaRPr lang="en-IN"/>
          </a:p>
        </p:txBody>
      </p:sp>
      <p:sp>
        <p:nvSpPr>
          <p:cNvPr id="11" name="Text 8"/>
          <p:cNvSpPr txBox="1"/>
          <p:nvPr/>
        </p:nvSpPr>
        <p:spPr>
          <a:xfrm>
            <a:off x="777240" y="3200400"/>
            <a:ext cx="2194560" cy="640080"/>
          </a:xfrm>
          <a:prstGeom prst="rect">
            <a:avLst/>
          </a:prstGeom>
          <a:noFill/>
          <a:ln/>
        </p:spPr>
        <p:txBody>
          <a:bodyPr wrap="square" lIns="0" tIns="0" rIns="0" bIns="0" rtlCol="0" anchor="t"/>
          <a:lstStyle/>
          <a:p>
            <a:pPr marL="0" indent="0">
              <a:buNone/>
            </a:pPr>
            <a:r>
              <a:rPr lang="en-US" sz="3600" b="1" dirty="0">
                <a:solidFill>
                  <a:schemeClr val="accent1"/>
                </a:solidFill>
                <a:latin typeface="Cambria" pitchFamily="34" charset="0"/>
                <a:ea typeface="Cambria" pitchFamily="34" charset="-122"/>
                <a:cs typeface="Cambria" pitchFamily="34" charset="-120"/>
              </a:rPr>
              <a:t>0</a:t>
            </a:r>
            <a:endParaRPr lang="en-US" sz="3600" dirty="0"/>
          </a:p>
        </p:txBody>
      </p:sp>
      <p:sp>
        <p:nvSpPr>
          <p:cNvPr id="12" name="Text 9"/>
          <p:cNvSpPr txBox="1"/>
          <p:nvPr/>
        </p:nvSpPr>
        <p:spPr>
          <a:xfrm>
            <a:off x="777240" y="3886200"/>
            <a:ext cx="2194560" cy="365760"/>
          </a:xfrm>
          <a:prstGeom prst="rect">
            <a:avLst/>
          </a:prstGeom>
          <a:noFill/>
          <a:ln/>
        </p:spPr>
        <p:txBody>
          <a:bodyPr wrap="square" lIns="0" tIns="0" rIns="0" bIns="0" rtlCol="0" anchor="t"/>
          <a:lstStyle/>
          <a:p>
            <a:pPr marL="0" indent="0">
              <a:buNone/>
            </a:pPr>
            <a:r>
              <a:rPr lang="en-US" sz="1600" dirty="0">
                <a:solidFill>
                  <a:schemeClr val="tx1"/>
                </a:solidFill>
              </a:rPr>
              <a:t>Missing values</a:t>
            </a:r>
            <a:endParaRPr lang="en-US" sz="1600" dirty="0"/>
          </a:p>
        </p:txBody>
      </p:sp>
      <p:sp>
        <p:nvSpPr>
          <p:cNvPr id="13" name="Card"/>
          <p:cNvSpPr/>
          <p:nvPr/>
        </p:nvSpPr>
        <p:spPr>
          <a:xfrm>
            <a:off x="3429000" y="3017520"/>
            <a:ext cx="2651760" cy="1417320"/>
          </a:xfrm>
          <a:prstGeom prst="roundRect">
            <a:avLst>
              <a:gd name="adj" fmla="val 7742"/>
            </a:avLst>
          </a:prstGeom>
          <a:solidFill>
            <a:schemeClr val="bg2"/>
          </a:solidFill>
          <a:ln/>
        </p:spPr>
        <p:txBody>
          <a:bodyPr/>
          <a:lstStyle/>
          <a:p>
            <a:endParaRPr lang="en-IN"/>
          </a:p>
        </p:txBody>
      </p:sp>
      <p:sp>
        <p:nvSpPr>
          <p:cNvPr id="14" name="Text 11"/>
          <p:cNvSpPr txBox="1"/>
          <p:nvPr/>
        </p:nvSpPr>
        <p:spPr>
          <a:xfrm>
            <a:off x="3657600" y="3200400"/>
            <a:ext cx="2194560" cy="640080"/>
          </a:xfrm>
          <a:prstGeom prst="rect">
            <a:avLst/>
          </a:prstGeom>
          <a:noFill/>
          <a:ln/>
        </p:spPr>
        <p:txBody>
          <a:bodyPr wrap="square" lIns="0" tIns="0" rIns="0" bIns="0" rtlCol="0" anchor="t"/>
          <a:lstStyle/>
          <a:p>
            <a:pPr marL="0" indent="0">
              <a:buNone/>
            </a:pPr>
            <a:r>
              <a:rPr lang="en-US" sz="3600" b="1" dirty="0">
                <a:solidFill>
                  <a:schemeClr val="accent1"/>
                </a:solidFill>
                <a:latin typeface="Cambria" pitchFamily="34" charset="0"/>
                <a:ea typeface="Cambria" pitchFamily="34" charset="-122"/>
                <a:cs typeface="Cambria" pitchFamily="34" charset="-120"/>
              </a:rPr>
              <a:t>25</a:t>
            </a:r>
            <a:endParaRPr lang="en-US" sz="3600" dirty="0"/>
          </a:p>
        </p:txBody>
      </p:sp>
      <p:sp>
        <p:nvSpPr>
          <p:cNvPr id="15" name="Text 12"/>
          <p:cNvSpPr txBox="1"/>
          <p:nvPr/>
        </p:nvSpPr>
        <p:spPr>
          <a:xfrm>
            <a:off x="3657600" y="3886200"/>
            <a:ext cx="2194560" cy="365760"/>
          </a:xfrm>
          <a:prstGeom prst="rect">
            <a:avLst/>
          </a:prstGeom>
          <a:noFill/>
          <a:ln/>
        </p:spPr>
        <p:txBody>
          <a:bodyPr wrap="square" lIns="0" tIns="0" rIns="0" bIns="0" rtlCol="0" anchor="t"/>
          <a:lstStyle/>
          <a:p>
            <a:pPr marL="0" indent="0">
              <a:buNone/>
            </a:pPr>
            <a:r>
              <a:rPr lang="en-US" sz="1600" dirty="0">
                <a:solidFill>
                  <a:schemeClr val="tx1"/>
                </a:solidFill>
              </a:rPr>
              <a:t>Target classes</a:t>
            </a:r>
            <a:endParaRPr lang="en-US" sz="1600" dirty="0"/>
          </a:p>
        </p:txBody>
      </p:sp>
      <p:sp>
        <p:nvSpPr>
          <p:cNvPr id="16" name="Text 13"/>
          <p:cNvSpPr txBox="1"/>
          <p:nvPr/>
        </p:nvSpPr>
        <p:spPr>
          <a:xfrm>
            <a:off x="548640" y="4754880"/>
            <a:ext cx="553212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Source: Kaggle – Resume Dataset (UpdatedResumeDataSet.csv); verify counts on your copy</a:t>
            </a:r>
            <a:endParaRPr lang="en-US" sz="1400" dirty="0"/>
          </a:p>
          <a:p>
            <a:pPr marL="342900" indent="-342900">
              <a:spcAft>
                <a:spcPts val="600"/>
              </a:spcAft>
              <a:buSzPct val="100000"/>
              <a:buChar char="•"/>
            </a:pPr>
            <a:r>
              <a:rPr lang="en-US" sz="1400" dirty="0">
                <a:solidFill>
                  <a:schemeClr val="tx1"/>
                </a:solidFill>
              </a:rPr>
              <a:t>Features: Resume text (input); Category (target label)</a:t>
            </a:r>
            <a:endParaRPr lang="en-US" sz="1400" dirty="0"/>
          </a:p>
          <a:p>
            <a:pPr marL="342900" indent="-342900">
              <a:spcAft>
                <a:spcPts val="600"/>
              </a:spcAft>
              <a:buSzPct val="100000"/>
              <a:buChar char="•"/>
            </a:pPr>
            <a:r>
              <a:rPr lang="en-US" sz="1400" dirty="0">
                <a:solidFill>
                  <a:schemeClr val="tx1"/>
                </a:solidFill>
              </a:rPr>
              <a:t>Quality: no missing values; categories are imbalanced</a:t>
            </a:r>
            <a:endParaRPr lang="en-US" sz="1400" dirty="0"/>
          </a:p>
        </p:txBody>
      </p:sp>
      <p:sp>
        <p:nvSpPr>
          <p:cNvPr id="17" name="Placeholder – replace with picture"/>
          <p:cNvSpPr/>
          <p:nvPr/>
        </p:nvSpPr>
        <p:spPr>
          <a:xfrm>
            <a:off x="6400800" y="1371600"/>
            <a:ext cx="5239512" cy="4754880"/>
          </a:xfrm>
          <a:prstGeom prst="rect">
            <a:avLst/>
          </a:prstGeom>
          <a:solidFill>
            <a:schemeClr val="bg2"/>
          </a:solidFill>
          <a:ln w="15875">
            <a:solidFill>
              <a:schemeClr val="accent5"/>
            </a:solidFill>
            <a:prstDash val="dash"/>
          </a:ln>
        </p:spPr>
        <p:txBody>
          <a:bodyPr wrap="square" lIns="2540" tIns="2540" rIns="2540" bIns="2540" rtlCol="0" anchor="ctr"/>
          <a:lstStyle/>
          <a:p>
            <a:pPr marL="0" indent="0" algn="ctr">
              <a:buNone/>
            </a:pPr>
            <a:r>
              <a:rPr lang="en-US" sz="1400" i="1" dirty="0">
                <a:solidFill>
                  <a:schemeClr val="tx2"/>
                </a:solidFill>
              </a:rPr>
              <a:t>Insert screenshot of df.head() / df.info()</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Data Preprocessing &amp; Exploratory Analysis</a:t>
            </a:r>
            <a:endParaRPr lang="en-US" sz="3200" dirty="0"/>
          </a:p>
        </p:txBody>
      </p:sp>
      <p:sp>
        <p:nvSpPr>
          <p:cNvPr id="4" name="Placeholder – replace with picture"/>
          <p:cNvSpPr/>
          <p:nvPr/>
        </p:nvSpPr>
        <p:spPr>
          <a:xfrm>
            <a:off x="548640" y="1371600"/>
            <a:ext cx="5431536" cy="2834640"/>
          </a:xfrm>
          <a:prstGeom prst="rect">
            <a:avLst/>
          </a:prstGeom>
          <a:solidFill>
            <a:schemeClr val="bg2"/>
          </a:solidFill>
          <a:ln w="15875">
            <a:solidFill>
              <a:schemeClr val="accent5"/>
            </a:solidFill>
            <a:prstDash val="dash"/>
          </a:ln>
        </p:spPr>
        <p:txBody>
          <a:bodyPr wrap="square" lIns="2540" tIns="2540" rIns="2540" bIns="2540" rtlCol="0" anchor="ctr"/>
          <a:lstStyle/>
          <a:p>
            <a:pPr marL="0" indent="0" algn="ctr">
              <a:buNone/>
            </a:pPr>
            <a:r>
              <a:rPr lang="en-US" sz="1400" i="1" dirty="0">
                <a:solidFill>
                  <a:schemeClr val="tx2"/>
                </a:solidFill>
              </a:rPr>
              <a:t>Insert category distribution histogram</a:t>
            </a:r>
            <a:endParaRPr lang="en-US" sz="1400" dirty="0"/>
          </a:p>
        </p:txBody>
      </p:sp>
      <p:sp>
        <p:nvSpPr>
          <p:cNvPr id="5" name="Placeholder – replace with picture"/>
          <p:cNvSpPr/>
          <p:nvPr/>
        </p:nvSpPr>
        <p:spPr>
          <a:xfrm>
            <a:off x="6208776" y="1371600"/>
            <a:ext cx="5431536" cy="2834640"/>
          </a:xfrm>
          <a:prstGeom prst="rect">
            <a:avLst/>
          </a:prstGeom>
          <a:solidFill>
            <a:schemeClr val="bg2"/>
          </a:solidFill>
          <a:ln w="15875">
            <a:solidFill>
              <a:schemeClr val="accent5"/>
            </a:solidFill>
            <a:prstDash val="dash"/>
          </a:ln>
        </p:spPr>
        <p:txBody>
          <a:bodyPr wrap="square" lIns="2540" tIns="2540" rIns="2540" bIns="2540" rtlCol="0" anchor="ctr"/>
          <a:lstStyle/>
          <a:p>
            <a:pPr marL="0" indent="0" algn="ctr">
              <a:buNone/>
            </a:pPr>
            <a:r>
              <a:rPr lang="en-US" sz="1400" i="1" dirty="0">
                <a:solidFill>
                  <a:schemeClr val="tx2"/>
                </a:solidFill>
              </a:rPr>
              <a:t>Insert skill-frequency chart</a:t>
            </a:r>
            <a:endParaRPr lang="en-US" sz="1400" dirty="0"/>
          </a:p>
        </p:txBody>
      </p:sp>
      <p:sp>
        <p:nvSpPr>
          <p:cNvPr id="6" name="Card"/>
          <p:cNvSpPr/>
          <p:nvPr/>
        </p:nvSpPr>
        <p:spPr>
          <a:xfrm>
            <a:off x="548640" y="4434840"/>
            <a:ext cx="3520440" cy="1737360"/>
          </a:xfrm>
          <a:prstGeom prst="roundRect">
            <a:avLst>
              <a:gd name="adj" fmla="val 6316"/>
            </a:avLst>
          </a:prstGeom>
          <a:solidFill>
            <a:schemeClr val="bg2"/>
          </a:solidFill>
          <a:ln/>
        </p:spPr>
        <p:txBody>
          <a:bodyPr/>
          <a:lstStyle/>
          <a:p>
            <a:endParaRPr lang="en-IN"/>
          </a:p>
        </p:txBody>
      </p:sp>
      <p:sp>
        <p:nvSpPr>
          <p:cNvPr id="7" name="Icon badge"/>
          <p:cNvSpPr/>
          <p:nvPr/>
        </p:nvSpPr>
        <p:spPr>
          <a:xfrm>
            <a:off x="822960" y="4617720"/>
            <a:ext cx="502920" cy="502920"/>
          </a:xfrm>
          <a:prstGeom prst="ellipse">
            <a:avLst/>
          </a:prstGeom>
          <a:solidFill>
            <a:schemeClr val="accent1"/>
          </a:solidFill>
          <a:ln/>
        </p:spPr>
        <p:txBody>
          <a:bodyPr/>
          <a:lstStyle/>
          <a:p>
            <a:endParaRPr lang="en-IN"/>
          </a:p>
        </p:txBody>
      </p:sp>
      <p:pic>
        <p:nvPicPr>
          <p:cNvPr id="8" name="Image 0" descr="Broom icon"/>
          <p:cNvPicPr>
            <a:picLocks noChangeAspect="1"/>
          </p:cNvPicPr>
          <p:nvPr/>
        </p:nvPicPr>
        <p:blipFill>
          <a:blip r:embed="rId3"/>
          <a:stretch>
            <a:fillRect/>
          </a:stretch>
        </p:blipFill>
        <p:spPr>
          <a:xfrm>
            <a:off x="933602" y="4728362"/>
            <a:ext cx="281635" cy="281635"/>
          </a:xfrm>
          <a:prstGeom prst="rect">
            <a:avLst/>
          </a:prstGeom>
        </p:spPr>
      </p:pic>
      <p:sp>
        <p:nvSpPr>
          <p:cNvPr id="9" name="Text 5"/>
          <p:cNvSpPr txBox="1"/>
          <p:nvPr/>
        </p:nvSpPr>
        <p:spPr>
          <a:xfrm>
            <a:off x="1508760" y="4617720"/>
            <a:ext cx="2331720" cy="502920"/>
          </a:xfrm>
          <a:prstGeom prst="rect">
            <a:avLst/>
          </a:prstGeom>
          <a:noFill/>
          <a:ln/>
        </p:spPr>
        <p:txBody>
          <a:bodyPr wrap="square" lIns="0" tIns="0" rIns="0" bIns="0" rtlCol="0" anchor="ctr"/>
          <a:lstStyle/>
          <a:p>
            <a:pPr marL="0" indent="0">
              <a:buNone/>
            </a:pPr>
            <a:r>
              <a:rPr lang="en-US" sz="1800" b="1" dirty="0">
                <a:solidFill>
                  <a:schemeClr val="tx2"/>
                </a:solidFill>
              </a:rPr>
              <a:t>Cleaning</a:t>
            </a:r>
            <a:endParaRPr lang="en-US" sz="1800" dirty="0"/>
          </a:p>
        </p:txBody>
      </p:sp>
      <p:sp>
        <p:nvSpPr>
          <p:cNvPr id="10" name="Text 6"/>
          <p:cNvSpPr txBox="1"/>
          <p:nvPr/>
        </p:nvSpPr>
        <p:spPr>
          <a:xfrm>
            <a:off x="822960" y="5303520"/>
            <a:ext cx="2971800" cy="731520"/>
          </a:xfrm>
          <a:prstGeom prst="rect">
            <a:avLst/>
          </a:prstGeom>
          <a:noFill/>
          <a:ln/>
        </p:spPr>
        <p:txBody>
          <a:bodyPr wrap="square" lIns="0" tIns="0" rIns="0" bIns="0" rtlCol="0" anchor="t"/>
          <a:lstStyle/>
          <a:p>
            <a:pPr marL="0" indent="0">
              <a:buNone/>
            </a:pPr>
            <a:r>
              <a:rPr lang="en-US" sz="1400" dirty="0">
                <a:solidFill>
                  <a:schemeClr val="tx1"/>
                </a:solidFill>
              </a:rPr>
              <a:t>Lowercase, remove special characters and extra spaces, drop duplicates and empty resumes.</a:t>
            </a:r>
            <a:endParaRPr lang="en-US" sz="1400" dirty="0"/>
          </a:p>
        </p:txBody>
      </p:sp>
      <p:sp>
        <p:nvSpPr>
          <p:cNvPr id="11" name="Card"/>
          <p:cNvSpPr/>
          <p:nvPr/>
        </p:nvSpPr>
        <p:spPr>
          <a:xfrm>
            <a:off x="4334256" y="4434840"/>
            <a:ext cx="3520440" cy="1737360"/>
          </a:xfrm>
          <a:prstGeom prst="roundRect">
            <a:avLst>
              <a:gd name="adj" fmla="val 6316"/>
            </a:avLst>
          </a:prstGeom>
          <a:solidFill>
            <a:schemeClr val="bg2"/>
          </a:solidFill>
          <a:ln/>
        </p:spPr>
        <p:txBody>
          <a:bodyPr/>
          <a:lstStyle/>
          <a:p>
            <a:endParaRPr lang="en-IN"/>
          </a:p>
        </p:txBody>
      </p:sp>
      <p:sp>
        <p:nvSpPr>
          <p:cNvPr id="12" name="Icon badge"/>
          <p:cNvSpPr/>
          <p:nvPr/>
        </p:nvSpPr>
        <p:spPr>
          <a:xfrm>
            <a:off x="4608576" y="4617720"/>
            <a:ext cx="502920" cy="502920"/>
          </a:xfrm>
          <a:prstGeom prst="ellipse">
            <a:avLst/>
          </a:prstGeom>
          <a:solidFill>
            <a:schemeClr val="accent1"/>
          </a:solidFill>
          <a:ln/>
        </p:spPr>
        <p:txBody>
          <a:bodyPr/>
          <a:lstStyle/>
          <a:p>
            <a:endParaRPr lang="en-IN"/>
          </a:p>
        </p:txBody>
      </p:sp>
      <p:pic>
        <p:nvPicPr>
          <p:cNvPr id="13" name="Image 1" descr="SyncAlt icon"/>
          <p:cNvPicPr>
            <a:picLocks noChangeAspect="1"/>
          </p:cNvPicPr>
          <p:nvPr/>
        </p:nvPicPr>
        <p:blipFill>
          <a:blip r:embed="rId4"/>
          <a:stretch>
            <a:fillRect/>
          </a:stretch>
        </p:blipFill>
        <p:spPr>
          <a:xfrm>
            <a:off x="4719218" y="4728362"/>
            <a:ext cx="281635" cy="281635"/>
          </a:xfrm>
          <a:prstGeom prst="rect">
            <a:avLst/>
          </a:prstGeom>
        </p:spPr>
      </p:pic>
      <p:sp>
        <p:nvSpPr>
          <p:cNvPr id="14" name="Text 9"/>
          <p:cNvSpPr txBox="1"/>
          <p:nvPr/>
        </p:nvSpPr>
        <p:spPr>
          <a:xfrm>
            <a:off x="5294376" y="4617720"/>
            <a:ext cx="2331720" cy="502920"/>
          </a:xfrm>
          <a:prstGeom prst="rect">
            <a:avLst/>
          </a:prstGeom>
          <a:noFill/>
          <a:ln/>
        </p:spPr>
        <p:txBody>
          <a:bodyPr wrap="square" lIns="0" tIns="0" rIns="0" bIns="0" rtlCol="0" anchor="ctr"/>
          <a:lstStyle/>
          <a:p>
            <a:pPr marL="0" indent="0">
              <a:buNone/>
            </a:pPr>
            <a:r>
              <a:rPr lang="en-US" sz="1800" b="1" dirty="0">
                <a:solidFill>
                  <a:schemeClr val="tx2"/>
                </a:solidFill>
              </a:rPr>
              <a:t>Transformation</a:t>
            </a:r>
            <a:endParaRPr lang="en-US" sz="1800" dirty="0"/>
          </a:p>
        </p:txBody>
      </p:sp>
      <p:sp>
        <p:nvSpPr>
          <p:cNvPr id="15" name="Text 10"/>
          <p:cNvSpPr txBox="1"/>
          <p:nvPr/>
        </p:nvSpPr>
        <p:spPr>
          <a:xfrm>
            <a:off x="4608576" y="5303520"/>
            <a:ext cx="2971800" cy="731520"/>
          </a:xfrm>
          <a:prstGeom prst="rect">
            <a:avLst/>
          </a:prstGeom>
          <a:noFill/>
          <a:ln/>
        </p:spPr>
        <p:txBody>
          <a:bodyPr wrap="square" lIns="0" tIns="0" rIns="0" bIns="0" rtlCol="0" anchor="t"/>
          <a:lstStyle/>
          <a:p>
            <a:pPr marL="0" indent="0">
              <a:buNone/>
            </a:pPr>
            <a:r>
              <a:rPr lang="en-US" sz="1400" dirty="0">
                <a:solidFill>
                  <a:schemeClr val="tx1"/>
                </a:solidFill>
              </a:rPr>
              <a:t>TF-IDF vectorisation (unigrams + bigrams, English stop-words removed, sublinear TF).</a:t>
            </a:r>
            <a:endParaRPr lang="en-US" sz="1400" dirty="0"/>
          </a:p>
        </p:txBody>
      </p:sp>
      <p:sp>
        <p:nvSpPr>
          <p:cNvPr id="16" name="Card"/>
          <p:cNvSpPr/>
          <p:nvPr/>
        </p:nvSpPr>
        <p:spPr>
          <a:xfrm>
            <a:off x="8119872" y="4434840"/>
            <a:ext cx="3520440" cy="1737360"/>
          </a:xfrm>
          <a:prstGeom prst="roundRect">
            <a:avLst>
              <a:gd name="adj" fmla="val 6316"/>
            </a:avLst>
          </a:prstGeom>
          <a:solidFill>
            <a:schemeClr val="bg2"/>
          </a:solidFill>
          <a:ln/>
        </p:spPr>
        <p:txBody>
          <a:bodyPr/>
          <a:lstStyle/>
          <a:p>
            <a:endParaRPr lang="en-IN"/>
          </a:p>
        </p:txBody>
      </p:sp>
      <p:sp>
        <p:nvSpPr>
          <p:cNvPr id="17" name="Icon badge"/>
          <p:cNvSpPr/>
          <p:nvPr/>
        </p:nvSpPr>
        <p:spPr>
          <a:xfrm>
            <a:off x="8394192" y="4617720"/>
            <a:ext cx="502920" cy="502920"/>
          </a:xfrm>
          <a:prstGeom prst="ellipse">
            <a:avLst/>
          </a:prstGeom>
          <a:solidFill>
            <a:schemeClr val="accent1"/>
          </a:solidFill>
          <a:ln/>
        </p:spPr>
        <p:txBody>
          <a:bodyPr/>
          <a:lstStyle/>
          <a:p>
            <a:endParaRPr lang="en-IN"/>
          </a:p>
        </p:txBody>
      </p:sp>
      <p:pic>
        <p:nvPicPr>
          <p:cNvPr id="18" name="Image 2" descr="Filter icon"/>
          <p:cNvPicPr>
            <a:picLocks noChangeAspect="1"/>
          </p:cNvPicPr>
          <p:nvPr/>
        </p:nvPicPr>
        <p:blipFill>
          <a:blip r:embed="rId5"/>
          <a:stretch>
            <a:fillRect/>
          </a:stretch>
        </p:blipFill>
        <p:spPr>
          <a:xfrm>
            <a:off x="8504834" y="4728362"/>
            <a:ext cx="281635" cy="281635"/>
          </a:xfrm>
          <a:prstGeom prst="rect">
            <a:avLst/>
          </a:prstGeom>
        </p:spPr>
      </p:pic>
      <p:sp>
        <p:nvSpPr>
          <p:cNvPr id="19" name="Text 13"/>
          <p:cNvSpPr txBox="1"/>
          <p:nvPr/>
        </p:nvSpPr>
        <p:spPr>
          <a:xfrm>
            <a:off x="9079992" y="4617720"/>
            <a:ext cx="2331720" cy="502920"/>
          </a:xfrm>
          <a:prstGeom prst="rect">
            <a:avLst/>
          </a:prstGeom>
          <a:noFill/>
          <a:ln/>
        </p:spPr>
        <p:txBody>
          <a:bodyPr wrap="square" lIns="0" tIns="0" rIns="0" bIns="0" rtlCol="0" anchor="ctr"/>
          <a:lstStyle/>
          <a:p>
            <a:pPr marL="0" indent="0">
              <a:buNone/>
            </a:pPr>
            <a:r>
              <a:rPr lang="en-US" sz="1800" b="1" dirty="0">
                <a:solidFill>
                  <a:schemeClr val="tx2"/>
                </a:solidFill>
              </a:rPr>
              <a:t>Feature Selection</a:t>
            </a:r>
            <a:endParaRPr lang="en-US" sz="1800" dirty="0"/>
          </a:p>
        </p:txBody>
      </p:sp>
      <p:sp>
        <p:nvSpPr>
          <p:cNvPr id="20" name="Text 14"/>
          <p:cNvSpPr txBox="1"/>
          <p:nvPr/>
        </p:nvSpPr>
        <p:spPr>
          <a:xfrm>
            <a:off x="8394192" y="5303520"/>
            <a:ext cx="2971800" cy="731520"/>
          </a:xfrm>
          <a:prstGeom prst="rect">
            <a:avLst/>
          </a:prstGeom>
          <a:noFill/>
          <a:ln/>
        </p:spPr>
        <p:txBody>
          <a:bodyPr wrap="square" lIns="0" tIns="0" rIns="0" bIns="0" rtlCol="0" anchor="t"/>
          <a:lstStyle/>
          <a:p>
            <a:pPr marL="0" indent="0">
              <a:buNone/>
            </a:pPr>
            <a:r>
              <a:rPr lang="en-US" sz="1400" dirty="0">
                <a:solidFill>
                  <a:schemeClr val="tx1"/>
                </a:solidFill>
              </a:rPr>
              <a:t>Skill dictionary of 30 skills used for matched / missing skill features.</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Module-wise Description</a:t>
            </a:r>
            <a:endParaRPr lang="en-US" sz="3200" dirty="0"/>
          </a:p>
        </p:txBody>
      </p:sp>
      <p:sp>
        <p:nvSpPr>
          <p:cNvPr id="4" name="Card"/>
          <p:cNvSpPr/>
          <p:nvPr/>
        </p:nvSpPr>
        <p:spPr>
          <a:xfrm>
            <a:off x="548640" y="1371600"/>
            <a:ext cx="5431536" cy="2240280"/>
          </a:xfrm>
          <a:prstGeom prst="roundRect">
            <a:avLst>
              <a:gd name="adj" fmla="val 4898"/>
            </a:avLst>
          </a:prstGeom>
          <a:solidFill>
            <a:schemeClr val="bg2"/>
          </a:solidFill>
          <a:ln/>
        </p:spPr>
        <p:txBody>
          <a:bodyPr/>
          <a:lstStyle/>
          <a:p>
            <a:endParaRPr lang="en-IN"/>
          </a:p>
        </p:txBody>
      </p:sp>
      <p:sp>
        <p:nvSpPr>
          <p:cNvPr id="5" name="Number badge"/>
          <p:cNvSpPr/>
          <p:nvPr/>
        </p:nvSpPr>
        <p:spPr>
          <a:xfrm>
            <a:off x="822960" y="1600200"/>
            <a:ext cx="502920" cy="50292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3"/>
          <p:cNvSpPr txBox="1"/>
          <p:nvPr/>
        </p:nvSpPr>
        <p:spPr>
          <a:xfrm>
            <a:off x="1508760" y="1600200"/>
            <a:ext cx="4206240" cy="502920"/>
          </a:xfrm>
          <a:prstGeom prst="rect">
            <a:avLst/>
          </a:prstGeom>
          <a:noFill/>
          <a:ln/>
        </p:spPr>
        <p:txBody>
          <a:bodyPr wrap="square" lIns="0" tIns="0" rIns="0" bIns="0" rtlCol="0" anchor="ctr"/>
          <a:lstStyle/>
          <a:p>
            <a:pPr marL="0" indent="0">
              <a:buNone/>
            </a:pPr>
            <a:r>
              <a:rPr lang="en-US" sz="1800" b="1" dirty="0">
                <a:solidFill>
                  <a:schemeClr val="tx2"/>
                </a:solidFill>
              </a:rPr>
              <a:t>Resume Parser</a:t>
            </a:r>
            <a:endParaRPr lang="en-US" sz="1800" dirty="0"/>
          </a:p>
        </p:txBody>
      </p:sp>
      <p:sp>
        <p:nvSpPr>
          <p:cNvPr id="7" name="Text 4"/>
          <p:cNvSpPr txBox="1"/>
          <p:nvPr/>
        </p:nvSpPr>
        <p:spPr>
          <a:xfrm>
            <a:off x="822960" y="2331720"/>
            <a:ext cx="4937760" cy="1143000"/>
          </a:xfrm>
          <a:prstGeom prst="rect">
            <a:avLst/>
          </a:prstGeom>
          <a:noFill/>
          <a:ln/>
        </p:spPr>
        <p:txBody>
          <a:bodyPr wrap="square" lIns="0" tIns="0" rIns="0" bIns="0" rtlCol="0" anchor="t"/>
          <a:lstStyle/>
          <a:p>
            <a:pPr marL="0" indent="0">
              <a:spcAft>
                <a:spcPts val="600"/>
              </a:spcAft>
              <a:buNone/>
            </a:pPr>
            <a:r>
              <a:rPr lang="en-US" sz="1400" b="1" dirty="0">
                <a:solidFill>
                  <a:schemeClr val="tx1"/>
                </a:solidFill>
              </a:rPr>
              <a:t>Purpose: </a:t>
            </a:r>
            <a:r>
              <a:rPr lang="en-US" sz="1400" dirty="0">
                <a:solidFill>
                  <a:schemeClr val="tx1"/>
                </a:solidFill>
              </a:rPr>
              <a:t>Reads and cleans resume text</a:t>
            </a:r>
            <a:endParaRPr lang="en-US" sz="1400" dirty="0"/>
          </a:p>
          <a:p>
            <a:pPr marL="0" indent="0">
              <a:spcAft>
                <a:spcPts val="600"/>
              </a:spcAft>
              <a:buNone/>
            </a:pPr>
            <a:r>
              <a:rPr lang="en-US" sz="1400" b="1" dirty="0">
                <a:solidFill>
                  <a:schemeClr val="tx1"/>
                </a:solidFill>
              </a:rPr>
              <a:t>Input → Output: </a:t>
            </a:r>
            <a:r>
              <a:rPr lang="en-US" sz="1400" dirty="0">
                <a:solidFill>
                  <a:schemeClr val="tx1"/>
                </a:solidFill>
              </a:rPr>
              <a:t>PDF/DOCX/TXT file → clean text</a:t>
            </a:r>
            <a:endParaRPr lang="en-US" sz="1400" dirty="0"/>
          </a:p>
          <a:p>
            <a:pPr marL="0" indent="0">
              <a:spcAft>
                <a:spcPts val="600"/>
              </a:spcAft>
              <a:buNone/>
            </a:pPr>
            <a:r>
              <a:rPr lang="en-US" sz="1400" b="1" dirty="0">
                <a:solidFill>
                  <a:schemeClr val="tx1"/>
                </a:solidFill>
              </a:rPr>
              <a:t>Developed by: </a:t>
            </a:r>
            <a:r>
              <a:rPr lang="en-US" sz="1400" dirty="0">
                <a:solidFill>
                  <a:schemeClr val="tx1"/>
                </a:solidFill>
              </a:rPr>
              <a:t>Sai Teja Bandari</a:t>
            </a:r>
            <a:endParaRPr lang="en-US" sz="1400" dirty="0"/>
          </a:p>
        </p:txBody>
      </p:sp>
      <p:sp>
        <p:nvSpPr>
          <p:cNvPr id="8" name="Card"/>
          <p:cNvSpPr/>
          <p:nvPr/>
        </p:nvSpPr>
        <p:spPr>
          <a:xfrm>
            <a:off x="6208776" y="1371600"/>
            <a:ext cx="5431536" cy="2240280"/>
          </a:xfrm>
          <a:prstGeom prst="roundRect">
            <a:avLst>
              <a:gd name="adj" fmla="val 4898"/>
            </a:avLst>
          </a:prstGeom>
          <a:solidFill>
            <a:schemeClr val="bg2"/>
          </a:solidFill>
          <a:ln/>
        </p:spPr>
        <p:txBody>
          <a:bodyPr/>
          <a:lstStyle/>
          <a:p>
            <a:endParaRPr lang="en-IN"/>
          </a:p>
        </p:txBody>
      </p:sp>
      <p:sp>
        <p:nvSpPr>
          <p:cNvPr id="9" name="Number badge"/>
          <p:cNvSpPr/>
          <p:nvPr/>
        </p:nvSpPr>
        <p:spPr>
          <a:xfrm>
            <a:off x="6483096" y="1600200"/>
            <a:ext cx="502920" cy="50292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0" name="Text 7"/>
          <p:cNvSpPr txBox="1"/>
          <p:nvPr/>
        </p:nvSpPr>
        <p:spPr>
          <a:xfrm>
            <a:off x="7168896" y="1600200"/>
            <a:ext cx="4206240" cy="502920"/>
          </a:xfrm>
          <a:prstGeom prst="rect">
            <a:avLst/>
          </a:prstGeom>
          <a:noFill/>
          <a:ln/>
        </p:spPr>
        <p:txBody>
          <a:bodyPr wrap="square" lIns="0" tIns="0" rIns="0" bIns="0" rtlCol="0" anchor="ctr"/>
          <a:lstStyle/>
          <a:p>
            <a:pPr marL="0" indent="0">
              <a:buNone/>
            </a:pPr>
            <a:r>
              <a:rPr lang="en-US" sz="1800" b="1" dirty="0">
                <a:solidFill>
                  <a:schemeClr val="tx2"/>
                </a:solidFill>
              </a:rPr>
              <a:t>Ranking Engine</a:t>
            </a:r>
            <a:endParaRPr lang="en-US" sz="1800" dirty="0"/>
          </a:p>
        </p:txBody>
      </p:sp>
      <p:sp>
        <p:nvSpPr>
          <p:cNvPr id="11" name="Text 8"/>
          <p:cNvSpPr txBox="1"/>
          <p:nvPr/>
        </p:nvSpPr>
        <p:spPr>
          <a:xfrm>
            <a:off x="6483096" y="2331720"/>
            <a:ext cx="4937760" cy="1143000"/>
          </a:xfrm>
          <a:prstGeom prst="rect">
            <a:avLst/>
          </a:prstGeom>
          <a:noFill/>
          <a:ln/>
        </p:spPr>
        <p:txBody>
          <a:bodyPr wrap="square" lIns="0" tIns="0" rIns="0" bIns="0" rtlCol="0" anchor="t"/>
          <a:lstStyle/>
          <a:p>
            <a:pPr marL="0" indent="0">
              <a:spcAft>
                <a:spcPts val="600"/>
              </a:spcAft>
              <a:buNone/>
            </a:pPr>
            <a:r>
              <a:rPr lang="en-US" sz="1400" b="1" dirty="0">
                <a:solidFill>
                  <a:schemeClr val="tx1"/>
                </a:solidFill>
              </a:rPr>
              <a:t>Purpose: </a:t>
            </a:r>
            <a:r>
              <a:rPr lang="en-US" sz="1400" dirty="0">
                <a:solidFill>
                  <a:schemeClr val="tx1"/>
                </a:solidFill>
              </a:rPr>
              <a:t>Scores each resume against the JD</a:t>
            </a:r>
            <a:endParaRPr lang="en-US" sz="1400" dirty="0"/>
          </a:p>
          <a:p>
            <a:pPr marL="0" indent="0">
              <a:spcAft>
                <a:spcPts val="600"/>
              </a:spcAft>
              <a:buNone/>
            </a:pPr>
            <a:r>
              <a:rPr lang="en-US" sz="1400" b="1" dirty="0">
                <a:solidFill>
                  <a:schemeClr val="tx1"/>
                </a:solidFill>
              </a:rPr>
              <a:t>Input → Output: </a:t>
            </a:r>
            <a:r>
              <a:rPr lang="en-US" sz="1400" dirty="0">
                <a:solidFill>
                  <a:schemeClr val="tx1"/>
                </a:solidFill>
              </a:rPr>
              <a:t>JD + texts → score, matched skills, status</a:t>
            </a:r>
            <a:endParaRPr lang="en-US" sz="1400" dirty="0"/>
          </a:p>
          <a:p>
            <a:pPr marL="0" indent="0">
              <a:spcAft>
                <a:spcPts val="600"/>
              </a:spcAft>
              <a:buNone/>
            </a:pPr>
            <a:r>
              <a:rPr lang="en-US" sz="1400" b="1" dirty="0">
                <a:solidFill>
                  <a:schemeClr val="tx1"/>
                </a:solidFill>
              </a:rPr>
              <a:t>Developed by: </a:t>
            </a:r>
            <a:r>
              <a:rPr lang="en-US" sz="1400" dirty="0">
                <a:solidFill>
                  <a:schemeClr val="tx1"/>
                </a:solidFill>
              </a:rPr>
              <a:t>Mani Charan Chava</a:t>
            </a:r>
            <a:endParaRPr lang="en-US" sz="1400" dirty="0"/>
          </a:p>
        </p:txBody>
      </p:sp>
      <p:sp>
        <p:nvSpPr>
          <p:cNvPr id="12" name="Card"/>
          <p:cNvSpPr/>
          <p:nvPr/>
        </p:nvSpPr>
        <p:spPr>
          <a:xfrm>
            <a:off x="548640" y="3840480"/>
            <a:ext cx="5431536" cy="2240280"/>
          </a:xfrm>
          <a:prstGeom prst="roundRect">
            <a:avLst>
              <a:gd name="adj" fmla="val 4898"/>
            </a:avLst>
          </a:prstGeom>
          <a:solidFill>
            <a:schemeClr val="bg2"/>
          </a:solidFill>
          <a:ln/>
        </p:spPr>
        <p:txBody>
          <a:bodyPr/>
          <a:lstStyle/>
          <a:p>
            <a:endParaRPr lang="en-IN"/>
          </a:p>
        </p:txBody>
      </p:sp>
      <p:sp>
        <p:nvSpPr>
          <p:cNvPr id="13" name="Number badge"/>
          <p:cNvSpPr/>
          <p:nvPr/>
        </p:nvSpPr>
        <p:spPr>
          <a:xfrm>
            <a:off x="822960" y="4069080"/>
            <a:ext cx="502920" cy="50292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4" name="Text 11"/>
          <p:cNvSpPr txBox="1"/>
          <p:nvPr/>
        </p:nvSpPr>
        <p:spPr>
          <a:xfrm>
            <a:off x="1508760" y="4069080"/>
            <a:ext cx="4206240" cy="502920"/>
          </a:xfrm>
          <a:prstGeom prst="rect">
            <a:avLst/>
          </a:prstGeom>
          <a:noFill/>
          <a:ln/>
        </p:spPr>
        <p:txBody>
          <a:bodyPr wrap="square" lIns="0" tIns="0" rIns="0" bIns="0" rtlCol="0" anchor="ctr"/>
          <a:lstStyle/>
          <a:p>
            <a:pPr marL="0" indent="0">
              <a:buNone/>
            </a:pPr>
            <a:r>
              <a:rPr lang="en-US" sz="1800" b="1" dirty="0">
                <a:solidFill>
                  <a:schemeClr val="tx2"/>
                </a:solidFill>
              </a:rPr>
              <a:t>Auth &amp; Database</a:t>
            </a:r>
            <a:endParaRPr lang="en-US" sz="1800" dirty="0"/>
          </a:p>
        </p:txBody>
      </p:sp>
      <p:sp>
        <p:nvSpPr>
          <p:cNvPr id="15" name="Text 12"/>
          <p:cNvSpPr txBox="1"/>
          <p:nvPr/>
        </p:nvSpPr>
        <p:spPr>
          <a:xfrm>
            <a:off x="822960" y="4800600"/>
            <a:ext cx="4937760" cy="1143000"/>
          </a:xfrm>
          <a:prstGeom prst="rect">
            <a:avLst/>
          </a:prstGeom>
          <a:noFill/>
          <a:ln/>
        </p:spPr>
        <p:txBody>
          <a:bodyPr wrap="square" lIns="0" tIns="0" rIns="0" bIns="0" rtlCol="0" anchor="t"/>
          <a:lstStyle/>
          <a:p>
            <a:pPr marL="0" indent="0">
              <a:spcAft>
                <a:spcPts val="600"/>
              </a:spcAft>
              <a:buNone/>
            </a:pPr>
            <a:r>
              <a:rPr lang="en-US" sz="1400" b="1" dirty="0">
                <a:solidFill>
                  <a:schemeClr val="tx1"/>
                </a:solidFill>
              </a:rPr>
              <a:t>Purpose: </a:t>
            </a:r>
            <a:r>
              <a:rPr lang="en-US" sz="1400" dirty="0">
                <a:solidFill>
                  <a:schemeClr val="tx1"/>
                </a:solidFill>
              </a:rPr>
              <a:t>Secure accounts and saved history</a:t>
            </a:r>
            <a:endParaRPr lang="en-US" sz="1400" dirty="0"/>
          </a:p>
          <a:p>
            <a:pPr marL="0" indent="0">
              <a:spcAft>
                <a:spcPts val="600"/>
              </a:spcAft>
              <a:buNone/>
            </a:pPr>
            <a:r>
              <a:rPr lang="en-US" sz="1400" b="1" dirty="0">
                <a:solidFill>
                  <a:schemeClr val="tx1"/>
                </a:solidFill>
              </a:rPr>
              <a:t>Input → Output: </a:t>
            </a:r>
            <a:r>
              <a:rPr lang="en-US" sz="1400" dirty="0">
                <a:solidFill>
                  <a:schemeClr val="tx1"/>
                </a:solidFill>
              </a:rPr>
              <a:t>Form data → session, SQLite rows</a:t>
            </a:r>
            <a:endParaRPr lang="en-US" sz="1400" dirty="0"/>
          </a:p>
          <a:p>
            <a:pPr marL="0" indent="0">
              <a:spcAft>
                <a:spcPts val="600"/>
              </a:spcAft>
              <a:buNone/>
            </a:pPr>
            <a:r>
              <a:rPr lang="en-US" sz="1400" b="1" dirty="0">
                <a:solidFill>
                  <a:schemeClr val="tx1"/>
                </a:solidFill>
              </a:rPr>
              <a:t>Developed by: </a:t>
            </a:r>
            <a:r>
              <a:rPr lang="en-US" sz="1400" dirty="0">
                <a:solidFill>
                  <a:schemeClr val="tx1"/>
                </a:solidFill>
              </a:rPr>
              <a:t>Sai Teja Bandari</a:t>
            </a:r>
            <a:endParaRPr lang="en-US" sz="1400" dirty="0"/>
          </a:p>
        </p:txBody>
      </p:sp>
      <p:sp>
        <p:nvSpPr>
          <p:cNvPr id="16" name="Card"/>
          <p:cNvSpPr/>
          <p:nvPr/>
        </p:nvSpPr>
        <p:spPr>
          <a:xfrm>
            <a:off x="6208776" y="3840480"/>
            <a:ext cx="5431536" cy="2240280"/>
          </a:xfrm>
          <a:prstGeom prst="roundRect">
            <a:avLst>
              <a:gd name="adj" fmla="val 4898"/>
            </a:avLst>
          </a:prstGeom>
          <a:solidFill>
            <a:schemeClr val="bg2"/>
          </a:solidFill>
          <a:ln/>
        </p:spPr>
        <p:txBody>
          <a:bodyPr/>
          <a:lstStyle/>
          <a:p>
            <a:endParaRPr lang="en-IN"/>
          </a:p>
        </p:txBody>
      </p:sp>
      <p:sp>
        <p:nvSpPr>
          <p:cNvPr id="17" name="Number badge"/>
          <p:cNvSpPr/>
          <p:nvPr/>
        </p:nvSpPr>
        <p:spPr>
          <a:xfrm>
            <a:off x="6483096" y="4069080"/>
            <a:ext cx="502920" cy="50292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8" name="Text 15"/>
          <p:cNvSpPr txBox="1"/>
          <p:nvPr/>
        </p:nvSpPr>
        <p:spPr>
          <a:xfrm>
            <a:off x="7168896" y="4069080"/>
            <a:ext cx="4206240" cy="502920"/>
          </a:xfrm>
          <a:prstGeom prst="rect">
            <a:avLst/>
          </a:prstGeom>
          <a:noFill/>
          <a:ln/>
        </p:spPr>
        <p:txBody>
          <a:bodyPr wrap="square" lIns="0" tIns="0" rIns="0" bIns="0" rtlCol="0" anchor="ctr"/>
          <a:lstStyle/>
          <a:p>
            <a:pPr marL="0" indent="0">
              <a:buNone/>
            </a:pPr>
            <a:r>
              <a:rPr lang="en-US" sz="1800" b="1" dirty="0">
                <a:solidFill>
                  <a:schemeClr val="tx2"/>
                </a:solidFill>
              </a:rPr>
              <a:t>Dashboard &amp; Notifier</a:t>
            </a:r>
            <a:endParaRPr lang="en-US" sz="1800" dirty="0"/>
          </a:p>
        </p:txBody>
      </p:sp>
      <p:sp>
        <p:nvSpPr>
          <p:cNvPr id="19" name="Text 16"/>
          <p:cNvSpPr txBox="1"/>
          <p:nvPr/>
        </p:nvSpPr>
        <p:spPr>
          <a:xfrm>
            <a:off x="6483096" y="4800600"/>
            <a:ext cx="4937760" cy="1143000"/>
          </a:xfrm>
          <a:prstGeom prst="rect">
            <a:avLst/>
          </a:prstGeom>
          <a:noFill/>
          <a:ln/>
        </p:spPr>
        <p:txBody>
          <a:bodyPr wrap="square" lIns="0" tIns="0" rIns="0" bIns="0" rtlCol="0" anchor="t"/>
          <a:lstStyle/>
          <a:p>
            <a:pPr marL="0" indent="0">
              <a:spcAft>
                <a:spcPts val="600"/>
              </a:spcAft>
              <a:buNone/>
            </a:pPr>
            <a:r>
              <a:rPr lang="en-US" sz="1400" b="1" dirty="0">
                <a:solidFill>
                  <a:schemeClr val="tx1"/>
                </a:solidFill>
              </a:rPr>
              <a:t>Purpose: </a:t>
            </a:r>
            <a:r>
              <a:rPr lang="en-US" sz="1400" dirty="0">
                <a:solidFill>
                  <a:schemeClr val="tx1"/>
                </a:solidFill>
              </a:rPr>
              <a:t>Shows shortlist and emails results</a:t>
            </a:r>
            <a:endParaRPr lang="en-US" sz="1400" dirty="0"/>
          </a:p>
          <a:p>
            <a:pPr marL="0" indent="0">
              <a:spcAft>
                <a:spcPts val="600"/>
              </a:spcAft>
              <a:buNone/>
            </a:pPr>
            <a:r>
              <a:rPr lang="en-US" sz="1400" b="1" dirty="0">
                <a:solidFill>
                  <a:schemeClr val="tx1"/>
                </a:solidFill>
              </a:rPr>
              <a:t>Input → Output: </a:t>
            </a:r>
            <a:r>
              <a:rPr lang="en-US" sz="1400" dirty="0">
                <a:solidFill>
                  <a:schemeClr val="tx1"/>
                </a:solidFill>
              </a:rPr>
              <a:t>Results → table + Gmail message</a:t>
            </a:r>
            <a:endParaRPr lang="en-US" sz="1400" dirty="0"/>
          </a:p>
          <a:p>
            <a:pPr marL="0" indent="0">
              <a:spcAft>
                <a:spcPts val="600"/>
              </a:spcAft>
              <a:buNone/>
            </a:pPr>
            <a:r>
              <a:rPr lang="en-US" sz="1400" b="1" dirty="0">
                <a:solidFill>
                  <a:schemeClr val="tx1"/>
                </a:solidFill>
              </a:rPr>
              <a:t>Developed by: </a:t>
            </a:r>
            <a:r>
              <a:rPr lang="en-US" sz="1400" dirty="0">
                <a:solidFill>
                  <a:schemeClr val="tx1"/>
                </a:solidFill>
              </a:rPr>
              <a:t>Mani Charan Chava</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Algorithms &amp; Technologies Used</a:t>
            </a:r>
            <a:endParaRPr lang="en-US" sz="3200" dirty="0"/>
          </a:p>
        </p:txBody>
      </p:sp>
      <p:sp>
        <p:nvSpPr>
          <p:cNvPr id="4" name="Card"/>
          <p:cNvSpPr/>
          <p:nvPr/>
        </p:nvSpPr>
        <p:spPr>
          <a:xfrm>
            <a:off x="548640" y="1371600"/>
            <a:ext cx="3520440" cy="3291840"/>
          </a:xfrm>
          <a:prstGeom prst="roundRect">
            <a:avLst>
              <a:gd name="adj" fmla="val 3333"/>
            </a:avLst>
          </a:prstGeom>
          <a:solidFill>
            <a:schemeClr val="bg2"/>
          </a:solidFill>
          <a:ln/>
        </p:spPr>
        <p:txBody>
          <a:bodyPr/>
          <a:lstStyle/>
          <a:p>
            <a:endParaRPr lang="en-IN"/>
          </a:p>
        </p:txBody>
      </p:sp>
      <p:sp>
        <p:nvSpPr>
          <p:cNvPr id="5" name="Icon badge"/>
          <p:cNvSpPr/>
          <p:nvPr/>
        </p:nvSpPr>
        <p:spPr>
          <a:xfrm>
            <a:off x="822960" y="1554480"/>
            <a:ext cx="502920" cy="502920"/>
          </a:xfrm>
          <a:prstGeom prst="ellipse">
            <a:avLst/>
          </a:prstGeom>
          <a:solidFill>
            <a:schemeClr val="accent1"/>
          </a:solidFill>
          <a:ln/>
        </p:spPr>
        <p:txBody>
          <a:bodyPr/>
          <a:lstStyle/>
          <a:p>
            <a:endParaRPr lang="en-IN"/>
          </a:p>
        </p:txBody>
      </p:sp>
      <p:pic>
        <p:nvPicPr>
          <p:cNvPr id="6" name="Image 0" descr="Cogs icon"/>
          <p:cNvPicPr>
            <a:picLocks noChangeAspect="1"/>
          </p:cNvPicPr>
          <p:nvPr/>
        </p:nvPicPr>
        <p:blipFill>
          <a:blip r:embed="rId3"/>
          <a:stretch>
            <a:fillRect/>
          </a:stretch>
        </p:blipFill>
        <p:spPr>
          <a:xfrm>
            <a:off x="933602" y="1665122"/>
            <a:ext cx="281635" cy="281635"/>
          </a:xfrm>
          <a:prstGeom prst="rect">
            <a:avLst/>
          </a:prstGeom>
        </p:spPr>
      </p:pic>
      <p:sp>
        <p:nvSpPr>
          <p:cNvPr id="7" name="Text 3"/>
          <p:cNvSpPr txBox="1"/>
          <p:nvPr/>
        </p:nvSpPr>
        <p:spPr>
          <a:xfrm>
            <a:off x="1508760" y="1554480"/>
            <a:ext cx="2331720" cy="502920"/>
          </a:xfrm>
          <a:prstGeom prst="rect">
            <a:avLst/>
          </a:prstGeom>
          <a:noFill/>
          <a:ln/>
        </p:spPr>
        <p:txBody>
          <a:bodyPr wrap="square" lIns="0" tIns="0" rIns="0" bIns="0" rtlCol="0" anchor="ctr"/>
          <a:lstStyle/>
          <a:p>
            <a:pPr marL="0" indent="0">
              <a:buNone/>
            </a:pPr>
            <a:r>
              <a:rPr lang="en-US" sz="1800" b="1" dirty="0">
                <a:solidFill>
                  <a:schemeClr val="tx2"/>
                </a:solidFill>
              </a:rPr>
              <a:t>TF-IDF</a:t>
            </a:r>
            <a:endParaRPr lang="en-US" sz="1800" dirty="0"/>
          </a:p>
        </p:txBody>
      </p:sp>
      <p:sp>
        <p:nvSpPr>
          <p:cNvPr id="8" name="Text 4"/>
          <p:cNvSpPr txBox="1"/>
          <p:nvPr/>
        </p:nvSpPr>
        <p:spPr>
          <a:xfrm>
            <a:off x="822960" y="2240280"/>
            <a:ext cx="2971800" cy="2286000"/>
          </a:xfrm>
          <a:prstGeom prst="rect">
            <a:avLst/>
          </a:prstGeom>
          <a:noFill/>
          <a:ln/>
        </p:spPr>
        <p:txBody>
          <a:bodyPr wrap="square" lIns="0" tIns="0" rIns="0" bIns="0" rtlCol="0" anchor="t"/>
          <a:lstStyle/>
          <a:p>
            <a:pPr marL="0" indent="0">
              <a:buNone/>
            </a:pPr>
            <a:r>
              <a:rPr lang="en-US" sz="1400" b="1" dirty="0">
                <a:solidFill>
                  <a:schemeClr val="tx2"/>
                </a:solidFill>
              </a:rPr>
              <a:t>Why chosen</a:t>
            </a:r>
            <a:endParaRPr lang="en-US" sz="1400" dirty="0"/>
          </a:p>
          <a:p>
            <a:pPr marL="0" indent="0">
              <a:spcAft>
                <a:spcPts val="1200"/>
              </a:spcAft>
              <a:buNone/>
            </a:pPr>
            <a:r>
              <a:rPr lang="en-US" sz="1400" dirty="0">
                <a:solidFill>
                  <a:schemeClr val="tx1"/>
                </a:solidFill>
              </a:rPr>
              <a:t>Weights distinctive terms; fast, no paid API</a:t>
            </a:r>
            <a:endParaRPr lang="en-US" sz="1400" dirty="0"/>
          </a:p>
          <a:p>
            <a:pPr marL="0" indent="0">
              <a:buNone/>
            </a:pPr>
            <a:r>
              <a:rPr lang="en-US" sz="1400" b="1" dirty="0">
                <a:solidFill>
                  <a:schemeClr val="tx2"/>
                </a:solidFill>
              </a:rPr>
              <a:t>Key parameters</a:t>
            </a:r>
            <a:endParaRPr lang="en-US" sz="1400" dirty="0"/>
          </a:p>
          <a:p>
            <a:pPr marL="0" indent="0">
              <a:buNone/>
            </a:pPr>
            <a:r>
              <a:rPr lang="en-US" sz="1400" dirty="0">
                <a:solidFill>
                  <a:schemeClr val="tx1"/>
                </a:solidFill>
              </a:rPr>
              <a:t>ngram_range=(1,2), sublinear_tf=True</a:t>
            </a:r>
            <a:endParaRPr lang="en-US" sz="1400" dirty="0"/>
          </a:p>
        </p:txBody>
      </p:sp>
      <p:sp>
        <p:nvSpPr>
          <p:cNvPr id="9" name="Card"/>
          <p:cNvSpPr/>
          <p:nvPr/>
        </p:nvSpPr>
        <p:spPr>
          <a:xfrm>
            <a:off x="4334256" y="1371600"/>
            <a:ext cx="3520440" cy="3291840"/>
          </a:xfrm>
          <a:prstGeom prst="roundRect">
            <a:avLst>
              <a:gd name="adj" fmla="val 3333"/>
            </a:avLst>
          </a:prstGeom>
          <a:solidFill>
            <a:schemeClr val="bg2"/>
          </a:solidFill>
          <a:ln/>
        </p:spPr>
        <p:txBody>
          <a:bodyPr/>
          <a:lstStyle/>
          <a:p>
            <a:endParaRPr lang="en-IN"/>
          </a:p>
        </p:txBody>
      </p:sp>
      <p:sp>
        <p:nvSpPr>
          <p:cNvPr id="10" name="Icon badge"/>
          <p:cNvSpPr/>
          <p:nvPr/>
        </p:nvSpPr>
        <p:spPr>
          <a:xfrm>
            <a:off x="4608576" y="1554480"/>
            <a:ext cx="502920" cy="502920"/>
          </a:xfrm>
          <a:prstGeom prst="ellipse">
            <a:avLst/>
          </a:prstGeom>
          <a:solidFill>
            <a:schemeClr val="accent1"/>
          </a:solidFill>
          <a:ln/>
        </p:spPr>
        <p:txBody>
          <a:bodyPr/>
          <a:lstStyle/>
          <a:p>
            <a:endParaRPr lang="en-IN"/>
          </a:p>
        </p:txBody>
      </p:sp>
      <p:pic>
        <p:nvPicPr>
          <p:cNvPr id="11" name="Image 1" descr="Cogs icon"/>
          <p:cNvPicPr>
            <a:picLocks noChangeAspect="1"/>
          </p:cNvPicPr>
          <p:nvPr/>
        </p:nvPicPr>
        <p:blipFill>
          <a:blip r:embed="rId3"/>
          <a:stretch>
            <a:fillRect/>
          </a:stretch>
        </p:blipFill>
        <p:spPr>
          <a:xfrm>
            <a:off x="4719218" y="1665122"/>
            <a:ext cx="281635" cy="281635"/>
          </a:xfrm>
          <a:prstGeom prst="rect">
            <a:avLst/>
          </a:prstGeom>
        </p:spPr>
      </p:pic>
      <p:sp>
        <p:nvSpPr>
          <p:cNvPr id="12" name="Text 7"/>
          <p:cNvSpPr txBox="1"/>
          <p:nvPr/>
        </p:nvSpPr>
        <p:spPr>
          <a:xfrm>
            <a:off x="5294376" y="1554480"/>
            <a:ext cx="2331720" cy="502920"/>
          </a:xfrm>
          <a:prstGeom prst="rect">
            <a:avLst/>
          </a:prstGeom>
          <a:noFill/>
          <a:ln/>
        </p:spPr>
        <p:txBody>
          <a:bodyPr wrap="square" lIns="0" tIns="0" rIns="0" bIns="0" rtlCol="0" anchor="ctr"/>
          <a:lstStyle/>
          <a:p>
            <a:pPr marL="0" indent="0">
              <a:buNone/>
            </a:pPr>
            <a:r>
              <a:rPr lang="en-US" sz="1800" b="1" dirty="0">
                <a:solidFill>
                  <a:schemeClr val="tx2"/>
                </a:solidFill>
              </a:rPr>
              <a:t>Cosine Similarity</a:t>
            </a:r>
            <a:endParaRPr lang="en-US" sz="1800" dirty="0"/>
          </a:p>
        </p:txBody>
      </p:sp>
      <p:sp>
        <p:nvSpPr>
          <p:cNvPr id="13" name="Text 8"/>
          <p:cNvSpPr txBox="1"/>
          <p:nvPr/>
        </p:nvSpPr>
        <p:spPr>
          <a:xfrm>
            <a:off x="4608576" y="2240280"/>
            <a:ext cx="2971800" cy="2286000"/>
          </a:xfrm>
          <a:prstGeom prst="rect">
            <a:avLst/>
          </a:prstGeom>
          <a:noFill/>
          <a:ln/>
        </p:spPr>
        <p:txBody>
          <a:bodyPr wrap="square" lIns="0" tIns="0" rIns="0" bIns="0" rtlCol="0" anchor="t"/>
          <a:lstStyle/>
          <a:p>
            <a:pPr marL="0" indent="0">
              <a:buNone/>
            </a:pPr>
            <a:r>
              <a:rPr lang="en-US" sz="1400" b="1" dirty="0">
                <a:solidFill>
                  <a:schemeClr val="tx2"/>
                </a:solidFill>
              </a:rPr>
              <a:t>Why chosen</a:t>
            </a:r>
            <a:endParaRPr lang="en-US" sz="1400" dirty="0"/>
          </a:p>
          <a:p>
            <a:pPr marL="0" indent="0">
              <a:spcAft>
                <a:spcPts val="1200"/>
              </a:spcAft>
              <a:buNone/>
            </a:pPr>
            <a:r>
              <a:rPr lang="en-US" sz="1400" dirty="0">
                <a:solidFill>
                  <a:schemeClr val="tx1"/>
                </a:solidFill>
              </a:rPr>
              <a:t>Measures JD–resume closeness in vector space</a:t>
            </a:r>
            <a:endParaRPr lang="en-US" sz="1400" dirty="0"/>
          </a:p>
          <a:p>
            <a:pPr marL="0" indent="0">
              <a:buNone/>
            </a:pPr>
            <a:r>
              <a:rPr lang="en-US" sz="1400" b="1" dirty="0">
                <a:solidFill>
                  <a:schemeClr val="tx2"/>
                </a:solidFill>
              </a:rPr>
              <a:t>Key parameters</a:t>
            </a:r>
            <a:endParaRPr lang="en-US" sz="1400" dirty="0"/>
          </a:p>
          <a:p>
            <a:pPr marL="0" indent="0">
              <a:buNone/>
            </a:pPr>
            <a:r>
              <a:rPr lang="en-US" sz="1400" dirty="0">
                <a:solidFill>
                  <a:schemeClr val="tx1"/>
                </a:solidFill>
              </a:rPr>
              <a:t>Score = 0.6·cosine + 0.4·skill match</a:t>
            </a:r>
            <a:endParaRPr lang="en-US" sz="1400" dirty="0"/>
          </a:p>
        </p:txBody>
      </p:sp>
      <p:sp>
        <p:nvSpPr>
          <p:cNvPr id="14" name="Card"/>
          <p:cNvSpPr/>
          <p:nvPr/>
        </p:nvSpPr>
        <p:spPr>
          <a:xfrm>
            <a:off x="8119872" y="1371600"/>
            <a:ext cx="3520440" cy="3291840"/>
          </a:xfrm>
          <a:prstGeom prst="roundRect">
            <a:avLst>
              <a:gd name="adj" fmla="val 3333"/>
            </a:avLst>
          </a:prstGeom>
          <a:solidFill>
            <a:schemeClr val="bg2"/>
          </a:solidFill>
          <a:ln/>
        </p:spPr>
        <p:txBody>
          <a:bodyPr/>
          <a:lstStyle/>
          <a:p>
            <a:endParaRPr lang="en-IN"/>
          </a:p>
        </p:txBody>
      </p:sp>
      <p:sp>
        <p:nvSpPr>
          <p:cNvPr id="15" name="Icon badge"/>
          <p:cNvSpPr/>
          <p:nvPr/>
        </p:nvSpPr>
        <p:spPr>
          <a:xfrm>
            <a:off x="8394192" y="1554480"/>
            <a:ext cx="502920" cy="502920"/>
          </a:xfrm>
          <a:prstGeom prst="ellipse">
            <a:avLst/>
          </a:prstGeom>
          <a:solidFill>
            <a:schemeClr val="accent1"/>
          </a:solidFill>
          <a:ln/>
        </p:spPr>
        <p:txBody>
          <a:bodyPr/>
          <a:lstStyle/>
          <a:p>
            <a:endParaRPr lang="en-IN"/>
          </a:p>
        </p:txBody>
      </p:sp>
      <p:pic>
        <p:nvPicPr>
          <p:cNvPr id="16" name="Image 2" descr="Cogs icon"/>
          <p:cNvPicPr>
            <a:picLocks noChangeAspect="1"/>
          </p:cNvPicPr>
          <p:nvPr/>
        </p:nvPicPr>
        <p:blipFill>
          <a:blip r:embed="rId3"/>
          <a:stretch>
            <a:fillRect/>
          </a:stretch>
        </p:blipFill>
        <p:spPr>
          <a:xfrm>
            <a:off x="8504834" y="1665122"/>
            <a:ext cx="281635" cy="281635"/>
          </a:xfrm>
          <a:prstGeom prst="rect">
            <a:avLst/>
          </a:prstGeom>
        </p:spPr>
      </p:pic>
      <p:sp>
        <p:nvSpPr>
          <p:cNvPr id="17" name="Text 11"/>
          <p:cNvSpPr txBox="1"/>
          <p:nvPr/>
        </p:nvSpPr>
        <p:spPr>
          <a:xfrm>
            <a:off x="9079992" y="1554480"/>
            <a:ext cx="2331720" cy="502920"/>
          </a:xfrm>
          <a:prstGeom prst="rect">
            <a:avLst/>
          </a:prstGeom>
          <a:noFill/>
          <a:ln/>
        </p:spPr>
        <p:txBody>
          <a:bodyPr wrap="square" lIns="0" tIns="0" rIns="0" bIns="0" rtlCol="0" anchor="ctr"/>
          <a:lstStyle/>
          <a:p>
            <a:pPr marL="0" indent="0">
              <a:buNone/>
            </a:pPr>
            <a:r>
              <a:rPr lang="en-US" sz="1800" b="1" dirty="0">
                <a:solidFill>
                  <a:schemeClr val="tx2"/>
                </a:solidFill>
              </a:rPr>
              <a:t>Skill Matching</a:t>
            </a:r>
            <a:endParaRPr lang="en-US" sz="1800" dirty="0"/>
          </a:p>
        </p:txBody>
      </p:sp>
      <p:sp>
        <p:nvSpPr>
          <p:cNvPr id="18" name="Text 12"/>
          <p:cNvSpPr txBox="1"/>
          <p:nvPr/>
        </p:nvSpPr>
        <p:spPr>
          <a:xfrm>
            <a:off x="8394192" y="2240280"/>
            <a:ext cx="2971800" cy="2286000"/>
          </a:xfrm>
          <a:prstGeom prst="rect">
            <a:avLst/>
          </a:prstGeom>
          <a:noFill/>
          <a:ln/>
        </p:spPr>
        <p:txBody>
          <a:bodyPr wrap="square" lIns="0" tIns="0" rIns="0" bIns="0" rtlCol="0" anchor="t"/>
          <a:lstStyle/>
          <a:p>
            <a:pPr marL="0" indent="0">
              <a:buNone/>
            </a:pPr>
            <a:r>
              <a:rPr lang="en-US" sz="1400" b="1" dirty="0">
                <a:solidFill>
                  <a:schemeClr val="tx2"/>
                </a:solidFill>
              </a:rPr>
              <a:t>Why chosen</a:t>
            </a:r>
            <a:endParaRPr lang="en-US" sz="1400" dirty="0"/>
          </a:p>
          <a:p>
            <a:pPr marL="0" indent="0">
              <a:spcAft>
                <a:spcPts val="1200"/>
              </a:spcAft>
              <a:buNone/>
            </a:pPr>
            <a:r>
              <a:rPr lang="en-US" sz="1400" dirty="0">
                <a:solidFill>
                  <a:schemeClr val="tx1"/>
                </a:solidFill>
              </a:rPr>
              <a:t>Explains the score with matched / missing skills</a:t>
            </a:r>
            <a:endParaRPr lang="en-US" sz="1400" dirty="0"/>
          </a:p>
          <a:p>
            <a:pPr marL="0" indent="0">
              <a:buNone/>
            </a:pPr>
            <a:r>
              <a:rPr lang="en-US" sz="1400" b="1" dirty="0">
                <a:solidFill>
                  <a:schemeClr val="tx2"/>
                </a:solidFill>
              </a:rPr>
              <a:t>Key parameters</a:t>
            </a:r>
            <a:endParaRPr lang="en-US" sz="1400" dirty="0"/>
          </a:p>
          <a:p>
            <a:pPr marL="0" indent="0">
              <a:buNone/>
            </a:pPr>
            <a:r>
              <a:rPr lang="en-US" sz="1400" dirty="0">
                <a:solidFill>
                  <a:schemeClr val="tx1"/>
                </a:solidFill>
              </a:rPr>
              <a:t>30-skill dictionary; status cut-offs 55 / 35</a:t>
            </a:r>
            <a:endParaRPr lang="en-US" sz="1400" dirty="0"/>
          </a:p>
        </p:txBody>
      </p:sp>
      <p:sp>
        <p:nvSpPr>
          <p:cNvPr id="19" name="Card"/>
          <p:cNvSpPr/>
          <p:nvPr/>
        </p:nvSpPr>
        <p:spPr>
          <a:xfrm>
            <a:off x="548640" y="4937760"/>
            <a:ext cx="11091672" cy="822960"/>
          </a:xfrm>
          <a:prstGeom prst="roundRect">
            <a:avLst>
              <a:gd name="adj" fmla="val 13333"/>
            </a:avLst>
          </a:prstGeom>
          <a:solidFill>
            <a:schemeClr val="bg2"/>
          </a:solidFill>
          <a:ln/>
        </p:spPr>
        <p:txBody>
          <a:bodyPr/>
          <a:lstStyle/>
          <a:p>
            <a:endParaRPr lang="en-IN"/>
          </a:p>
        </p:txBody>
      </p:sp>
      <p:sp>
        <p:nvSpPr>
          <p:cNvPr id="20" name="Text 14"/>
          <p:cNvSpPr txBox="1"/>
          <p:nvPr/>
        </p:nvSpPr>
        <p:spPr>
          <a:xfrm>
            <a:off x="822960" y="5120640"/>
            <a:ext cx="10543032" cy="502920"/>
          </a:xfrm>
          <a:prstGeom prst="rect">
            <a:avLst/>
          </a:prstGeom>
          <a:noFill/>
          <a:ln/>
        </p:spPr>
        <p:txBody>
          <a:bodyPr wrap="square" lIns="0" tIns="0" rIns="0" bIns="0" rtlCol="0" anchor="ctr"/>
          <a:lstStyle/>
          <a:p>
            <a:pPr marL="0" indent="0">
              <a:buNone/>
            </a:pPr>
            <a:r>
              <a:rPr lang="en-US" sz="1800" b="1" dirty="0">
                <a:solidFill>
                  <a:schemeClr val="tx2"/>
                </a:solidFill>
              </a:rPr>
              <a:t>Selection criteria:  Explainability, speed, zero API cost, simplicity. SVM / NB / XGBoost planned.</a:t>
            </a:r>
            <a:endParaRPr lang="en-US" sz="1800" dirty="0"/>
          </a:p>
        </p:txBody>
      </p:sp>
      <p:sp>
        <p:nvSpPr>
          <p:cNvPr id="21" name="Text 15"/>
          <p:cNvSpPr txBox="1"/>
          <p:nvPr/>
        </p:nvSpPr>
        <p:spPr>
          <a:xfrm>
            <a:off x="822960" y="5806440"/>
            <a:ext cx="10543032" cy="0"/>
          </a:xfrm>
          <a:prstGeom prst="rect">
            <a:avLst/>
          </a:prstGeom>
          <a:noFill/>
          <a:ln/>
        </p:spPr>
        <p:txBody>
          <a:bodyPr wrap="square" lIns="0" tIns="0" rIns="0" bIns="0" rtlCol="0" anchor="t"/>
          <a:lstStyle/>
          <a:p>
            <a:pPr marL="0" indent="0">
              <a:buNone/>
            </a:pP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Implementation / Model Building</a:t>
            </a:r>
            <a:endParaRPr lang="en-US" sz="3200" dirty="0"/>
          </a:p>
        </p:txBody>
      </p:sp>
      <p:sp>
        <p:nvSpPr>
          <p:cNvPr id="4" name="Card"/>
          <p:cNvSpPr/>
          <p:nvPr/>
        </p:nvSpPr>
        <p:spPr>
          <a:xfrm>
            <a:off x="548640" y="1371600"/>
            <a:ext cx="5394960" cy="1051560"/>
          </a:xfrm>
          <a:prstGeom prst="roundRect">
            <a:avLst>
              <a:gd name="adj" fmla="val 10435"/>
            </a:avLst>
          </a:prstGeom>
          <a:solidFill>
            <a:schemeClr val="bg2"/>
          </a:solidFill>
          <a:ln/>
        </p:spPr>
        <p:txBody>
          <a:bodyPr/>
          <a:lstStyle/>
          <a:p>
            <a:endParaRPr lang="en-IN"/>
          </a:p>
        </p:txBody>
      </p:sp>
      <p:sp>
        <p:nvSpPr>
          <p:cNvPr id="5" name="Text 2"/>
          <p:cNvSpPr txBox="1"/>
          <p:nvPr/>
        </p:nvSpPr>
        <p:spPr>
          <a:xfrm>
            <a:off x="822960" y="1481328"/>
            <a:ext cx="4846320" cy="320040"/>
          </a:xfrm>
          <a:prstGeom prst="rect">
            <a:avLst/>
          </a:prstGeom>
          <a:noFill/>
          <a:ln/>
        </p:spPr>
        <p:txBody>
          <a:bodyPr wrap="square" lIns="0" tIns="0" rIns="0" bIns="0" rtlCol="0" anchor="t"/>
          <a:lstStyle/>
          <a:p>
            <a:pPr marL="0" indent="0">
              <a:buNone/>
            </a:pPr>
            <a:r>
              <a:rPr lang="en-US" sz="1600" b="1" dirty="0">
                <a:solidFill>
                  <a:schemeClr val="tx2"/>
                </a:solidFill>
              </a:rPr>
              <a:t>Feature Selection</a:t>
            </a:r>
            <a:endParaRPr lang="en-US" sz="1600" dirty="0"/>
          </a:p>
        </p:txBody>
      </p:sp>
      <p:sp>
        <p:nvSpPr>
          <p:cNvPr id="6" name="Text 3"/>
          <p:cNvSpPr txBox="1"/>
          <p:nvPr/>
        </p:nvSpPr>
        <p:spPr>
          <a:xfrm>
            <a:off x="822960" y="1847088"/>
            <a:ext cx="4846320" cy="502920"/>
          </a:xfrm>
          <a:prstGeom prst="rect">
            <a:avLst/>
          </a:prstGeom>
          <a:noFill/>
          <a:ln/>
        </p:spPr>
        <p:txBody>
          <a:bodyPr wrap="square" lIns="0" tIns="0" rIns="0" bIns="0" rtlCol="0" anchor="t"/>
          <a:lstStyle/>
          <a:p>
            <a:pPr marL="0" indent="0">
              <a:buNone/>
            </a:pPr>
            <a:r>
              <a:rPr lang="en-US" sz="1400" dirty="0">
                <a:solidFill>
                  <a:schemeClr val="tx1"/>
                </a:solidFill>
              </a:rPr>
              <a:t>Resume text and a 30-skill dictionary</a:t>
            </a:r>
            <a:endParaRPr lang="en-US" sz="1400" dirty="0"/>
          </a:p>
        </p:txBody>
      </p:sp>
      <p:sp>
        <p:nvSpPr>
          <p:cNvPr id="7" name="Card"/>
          <p:cNvSpPr/>
          <p:nvPr/>
        </p:nvSpPr>
        <p:spPr>
          <a:xfrm>
            <a:off x="548640" y="2560320"/>
            <a:ext cx="5394960" cy="1051560"/>
          </a:xfrm>
          <a:prstGeom prst="roundRect">
            <a:avLst>
              <a:gd name="adj" fmla="val 10435"/>
            </a:avLst>
          </a:prstGeom>
          <a:solidFill>
            <a:schemeClr val="bg2"/>
          </a:solidFill>
          <a:ln/>
        </p:spPr>
        <p:txBody>
          <a:bodyPr/>
          <a:lstStyle/>
          <a:p>
            <a:endParaRPr lang="en-IN"/>
          </a:p>
        </p:txBody>
      </p:sp>
      <p:sp>
        <p:nvSpPr>
          <p:cNvPr id="8" name="Text 5"/>
          <p:cNvSpPr txBox="1"/>
          <p:nvPr/>
        </p:nvSpPr>
        <p:spPr>
          <a:xfrm>
            <a:off x="822960" y="2670048"/>
            <a:ext cx="4846320" cy="320040"/>
          </a:xfrm>
          <a:prstGeom prst="rect">
            <a:avLst/>
          </a:prstGeom>
          <a:noFill/>
          <a:ln/>
        </p:spPr>
        <p:txBody>
          <a:bodyPr wrap="square" lIns="0" tIns="0" rIns="0" bIns="0" rtlCol="0" anchor="t"/>
          <a:lstStyle/>
          <a:p>
            <a:pPr marL="0" indent="0">
              <a:buNone/>
            </a:pPr>
            <a:r>
              <a:rPr lang="en-US" sz="1600" b="1" dirty="0">
                <a:solidFill>
                  <a:schemeClr val="tx2"/>
                </a:solidFill>
              </a:rPr>
              <a:t>Preprocessing Pipeline</a:t>
            </a:r>
            <a:endParaRPr lang="en-US" sz="1600" dirty="0"/>
          </a:p>
        </p:txBody>
      </p:sp>
      <p:sp>
        <p:nvSpPr>
          <p:cNvPr id="9" name="Text 6"/>
          <p:cNvSpPr txBox="1"/>
          <p:nvPr/>
        </p:nvSpPr>
        <p:spPr>
          <a:xfrm>
            <a:off x="822960" y="3035808"/>
            <a:ext cx="4846320" cy="502920"/>
          </a:xfrm>
          <a:prstGeom prst="rect">
            <a:avLst/>
          </a:prstGeom>
          <a:noFill/>
          <a:ln/>
        </p:spPr>
        <p:txBody>
          <a:bodyPr wrap="square" lIns="0" tIns="0" rIns="0" bIns="0" rtlCol="0" anchor="t"/>
          <a:lstStyle/>
          <a:p>
            <a:pPr marL="0" indent="0">
              <a:buNone/>
            </a:pPr>
            <a:r>
              <a:rPr lang="en-US" sz="1400" dirty="0">
                <a:solidFill>
                  <a:schemeClr val="tx1"/>
                </a:solidFill>
              </a:rPr>
              <a:t>Parse → clean → TF-IDF → cosine → skill score</a:t>
            </a:r>
            <a:endParaRPr lang="en-US" sz="1400" dirty="0"/>
          </a:p>
        </p:txBody>
      </p:sp>
      <p:sp>
        <p:nvSpPr>
          <p:cNvPr id="10" name="Card"/>
          <p:cNvSpPr/>
          <p:nvPr/>
        </p:nvSpPr>
        <p:spPr>
          <a:xfrm>
            <a:off x="548640" y="3749040"/>
            <a:ext cx="5394960" cy="1051560"/>
          </a:xfrm>
          <a:prstGeom prst="roundRect">
            <a:avLst>
              <a:gd name="adj" fmla="val 10435"/>
            </a:avLst>
          </a:prstGeom>
          <a:solidFill>
            <a:schemeClr val="bg2"/>
          </a:solidFill>
          <a:ln/>
        </p:spPr>
        <p:txBody>
          <a:bodyPr/>
          <a:lstStyle/>
          <a:p>
            <a:endParaRPr lang="en-IN"/>
          </a:p>
        </p:txBody>
      </p:sp>
      <p:sp>
        <p:nvSpPr>
          <p:cNvPr id="11" name="Text 8"/>
          <p:cNvSpPr txBox="1"/>
          <p:nvPr/>
        </p:nvSpPr>
        <p:spPr>
          <a:xfrm>
            <a:off x="822960" y="3858768"/>
            <a:ext cx="4846320" cy="320040"/>
          </a:xfrm>
          <a:prstGeom prst="rect">
            <a:avLst/>
          </a:prstGeom>
          <a:noFill/>
          <a:ln/>
        </p:spPr>
        <p:txBody>
          <a:bodyPr wrap="square" lIns="0" tIns="0" rIns="0" bIns="0" rtlCol="0" anchor="t"/>
          <a:lstStyle/>
          <a:p>
            <a:pPr marL="0" indent="0">
              <a:buNone/>
            </a:pPr>
            <a:r>
              <a:rPr lang="en-US" sz="1600" b="1" dirty="0">
                <a:solidFill>
                  <a:schemeClr val="tx2"/>
                </a:solidFill>
              </a:rPr>
              <a:t>Data Splitting</a:t>
            </a:r>
            <a:endParaRPr lang="en-US" sz="1600" dirty="0"/>
          </a:p>
        </p:txBody>
      </p:sp>
      <p:sp>
        <p:nvSpPr>
          <p:cNvPr id="12" name="Text 9"/>
          <p:cNvSpPr txBox="1"/>
          <p:nvPr/>
        </p:nvSpPr>
        <p:spPr>
          <a:xfrm>
            <a:off x="822960" y="4224528"/>
            <a:ext cx="4846320" cy="502920"/>
          </a:xfrm>
          <a:prstGeom prst="rect">
            <a:avLst/>
          </a:prstGeom>
          <a:noFill/>
          <a:ln/>
        </p:spPr>
        <p:txBody>
          <a:bodyPr wrap="square" lIns="0" tIns="0" rIns="0" bIns="0" rtlCol="0" anchor="t"/>
          <a:lstStyle/>
          <a:p>
            <a:pPr marL="0" indent="0">
              <a:buNone/>
            </a:pPr>
            <a:r>
              <a:rPr lang="en-US" sz="1400" dirty="0">
                <a:solidFill>
                  <a:schemeClr val="tx1"/>
                </a:solidFill>
              </a:rPr>
              <a:t>Per request: one JD vs all uploaded resumes</a:t>
            </a:r>
            <a:endParaRPr lang="en-US" sz="1400" dirty="0"/>
          </a:p>
        </p:txBody>
      </p:sp>
      <p:sp>
        <p:nvSpPr>
          <p:cNvPr id="13" name="Card"/>
          <p:cNvSpPr/>
          <p:nvPr/>
        </p:nvSpPr>
        <p:spPr>
          <a:xfrm>
            <a:off x="548640" y="4937760"/>
            <a:ext cx="5394960" cy="1051560"/>
          </a:xfrm>
          <a:prstGeom prst="roundRect">
            <a:avLst>
              <a:gd name="adj" fmla="val 10435"/>
            </a:avLst>
          </a:prstGeom>
          <a:solidFill>
            <a:schemeClr val="bg2"/>
          </a:solidFill>
          <a:ln/>
        </p:spPr>
        <p:txBody>
          <a:bodyPr/>
          <a:lstStyle/>
          <a:p>
            <a:endParaRPr lang="en-IN"/>
          </a:p>
        </p:txBody>
      </p:sp>
      <p:sp>
        <p:nvSpPr>
          <p:cNvPr id="14" name="Text 11"/>
          <p:cNvSpPr txBox="1"/>
          <p:nvPr/>
        </p:nvSpPr>
        <p:spPr>
          <a:xfrm>
            <a:off x="822960" y="5047488"/>
            <a:ext cx="4846320" cy="320040"/>
          </a:xfrm>
          <a:prstGeom prst="rect">
            <a:avLst/>
          </a:prstGeom>
          <a:noFill/>
          <a:ln/>
        </p:spPr>
        <p:txBody>
          <a:bodyPr wrap="square" lIns="0" tIns="0" rIns="0" bIns="0" rtlCol="0" anchor="t"/>
          <a:lstStyle/>
          <a:p>
            <a:pPr marL="0" indent="0">
              <a:buNone/>
            </a:pPr>
            <a:r>
              <a:rPr lang="en-US" sz="1600" b="1" dirty="0">
                <a:solidFill>
                  <a:schemeClr val="tx2"/>
                </a:solidFill>
              </a:rPr>
              <a:t>Configuration</a:t>
            </a:r>
            <a:endParaRPr lang="en-US" sz="1600" dirty="0"/>
          </a:p>
        </p:txBody>
      </p:sp>
      <p:sp>
        <p:nvSpPr>
          <p:cNvPr id="15" name="Text 12"/>
          <p:cNvSpPr txBox="1"/>
          <p:nvPr/>
        </p:nvSpPr>
        <p:spPr>
          <a:xfrm>
            <a:off x="822960" y="5413248"/>
            <a:ext cx="4846320" cy="502920"/>
          </a:xfrm>
          <a:prstGeom prst="rect">
            <a:avLst/>
          </a:prstGeom>
          <a:noFill/>
          <a:ln/>
        </p:spPr>
        <p:txBody>
          <a:bodyPr wrap="square" lIns="0" tIns="0" rIns="0" bIns="0" rtlCol="0" anchor="t"/>
          <a:lstStyle/>
          <a:p>
            <a:pPr marL="0" indent="0">
              <a:buNone/>
            </a:pPr>
            <a:r>
              <a:rPr lang="en-US" sz="1400" dirty="0">
                <a:solidFill>
                  <a:schemeClr val="tx1"/>
                </a:solidFill>
              </a:rPr>
              <a:t>Weights 0.6 / 0.4; Shortlisted ≥ 55, Review ≥ 35</a:t>
            </a:r>
            <a:endParaRPr lang="en-US" sz="1400" dirty="0"/>
          </a:p>
        </p:txBody>
      </p:sp>
      <p:sp>
        <p:nvSpPr>
          <p:cNvPr id="16" name="Code panel"/>
          <p:cNvSpPr/>
          <p:nvPr/>
        </p:nvSpPr>
        <p:spPr>
          <a:xfrm>
            <a:off x="6217920" y="1371600"/>
            <a:ext cx="5422392" cy="4572000"/>
          </a:xfrm>
          <a:prstGeom prst="roundRect">
            <a:avLst>
              <a:gd name="adj" fmla="val 2400"/>
            </a:avLst>
          </a:prstGeom>
          <a:solidFill>
            <a:schemeClr val="tx1"/>
          </a:solidFill>
          <a:ln/>
        </p:spPr>
        <p:txBody>
          <a:bodyPr/>
          <a:lstStyle/>
          <a:p>
            <a:endParaRPr lang="en-IN"/>
          </a:p>
        </p:txBody>
      </p:sp>
      <p:sp>
        <p:nvSpPr>
          <p:cNvPr id="17" name="Text 14"/>
          <p:cNvSpPr txBox="1"/>
          <p:nvPr/>
        </p:nvSpPr>
        <p:spPr>
          <a:xfrm>
            <a:off x="6492240" y="1554480"/>
            <a:ext cx="4846320" cy="274320"/>
          </a:xfrm>
          <a:prstGeom prst="rect">
            <a:avLst/>
          </a:prstGeom>
          <a:noFill/>
          <a:ln/>
        </p:spPr>
        <p:txBody>
          <a:bodyPr wrap="square" lIns="0" tIns="0" rIns="0" bIns="0" rtlCol="0" anchor="t"/>
          <a:lstStyle/>
          <a:p>
            <a:pPr marL="0" indent="0">
              <a:buNone/>
            </a:pPr>
            <a:r>
              <a:rPr lang="en-US" sz="1200" b="1" dirty="0">
                <a:solidFill>
                  <a:schemeClr val="accent2"/>
                </a:solidFill>
              </a:rPr>
              <a:t>Code snippet / pseudocode</a:t>
            </a:r>
            <a:endParaRPr lang="en-US" sz="1200" dirty="0"/>
          </a:p>
        </p:txBody>
      </p:sp>
      <p:sp>
        <p:nvSpPr>
          <p:cNvPr id="18" name="Text 15"/>
          <p:cNvSpPr txBox="1"/>
          <p:nvPr/>
        </p:nvSpPr>
        <p:spPr>
          <a:xfrm>
            <a:off x="6492240" y="1965960"/>
            <a:ext cx="4937760" cy="3749040"/>
          </a:xfrm>
          <a:prstGeom prst="rect">
            <a:avLst/>
          </a:prstGeom>
          <a:noFill/>
          <a:ln/>
        </p:spPr>
        <p:txBody>
          <a:bodyPr wrap="square" lIns="0" tIns="0" rIns="0" bIns="0" rtlCol="0" anchor="t"/>
          <a:lstStyle/>
          <a:p>
            <a:pPr marL="0" indent="0">
              <a:buNone/>
            </a:pPr>
            <a:r>
              <a:rPr lang="en-US" sz="1300" dirty="0">
                <a:solidFill>
                  <a:schemeClr val="bg1"/>
                </a:solidFill>
                <a:latin typeface="Courier New" pitchFamily="34" charset="0"/>
                <a:ea typeface="Courier New" pitchFamily="34" charset="-122"/>
                <a:cs typeface="Courier New" pitchFamily="34" charset="-120"/>
              </a:rPr>
              <a:t># Ranking core (app.py)</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tf = TfidfVectorizer(stop_words="english",</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ngram_range=(1, 2), sublinear_tf=True)</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X = tf.fit_transform([jd] + resumes)</a:t>
            </a:r>
            <a:endParaRPr lang="en-US" sz="1300" dirty="0"/>
          </a:p>
          <a:p>
            <a:pPr marL="0" indent="0">
              <a:buNone/>
            </a:pP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ratio = len(matched) / len(jd_skills)</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score = 100*(0.6*min(1, sim*2) + 0.4*ratio)</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ranked = sorted(results, key=lambda r: -r["score"])</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Working Prototype / Output Screens</a:t>
            </a:r>
            <a:endParaRPr lang="en-US" sz="3200" dirty="0"/>
          </a:p>
        </p:txBody>
      </p:sp>
      <p:sp>
        <p:nvSpPr>
          <p:cNvPr id="4" name="Placeholder – replace with picture"/>
          <p:cNvSpPr/>
          <p:nvPr/>
        </p:nvSpPr>
        <p:spPr>
          <a:xfrm>
            <a:off x="548640" y="1371600"/>
            <a:ext cx="3520440" cy="3703320"/>
          </a:xfrm>
          <a:prstGeom prst="rect">
            <a:avLst/>
          </a:prstGeom>
          <a:solidFill>
            <a:schemeClr val="bg2"/>
          </a:solidFill>
          <a:ln w="15875">
            <a:solidFill>
              <a:schemeClr val="accent5"/>
            </a:solidFill>
            <a:prstDash val="dash"/>
          </a:ln>
        </p:spPr>
        <p:txBody>
          <a:bodyPr wrap="square" lIns="2540" tIns="2540" rIns="2540" bIns="2540" rtlCol="0" anchor="ctr"/>
          <a:lstStyle/>
          <a:p>
            <a:pPr marL="0" indent="0" algn="ctr">
              <a:buNone/>
            </a:pPr>
            <a:r>
              <a:rPr lang="en-US" sz="1400" i="1" dirty="0">
                <a:solidFill>
                  <a:schemeClr val="tx2"/>
                </a:solidFill>
              </a:rPr>
              <a:t>Screenshot: Login page</a:t>
            </a:r>
            <a:endParaRPr lang="en-US" sz="1400" dirty="0"/>
          </a:p>
        </p:txBody>
      </p:sp>
      <p:sp>
        <p:nvSpPr>
          <p:cNvPr id="5" name="Text 2"/>
          <p:cNvSpPr txBox="1"/>
          <p:nvPr/>
        </p:nvSpPr>
        <p:spPr>
          <a:xfrm>
            <a:off x="548640" y="5257800"/>
            <a:ext cx="3520440" cy="822960"/>
          </a:xfrm>
          <a:prstGeom prst="rect">
            <a:avLst/>
          </a:prstGeom>
          <a:noFill/>
          <a:ln/>
        </p:spPr>
        <p:txBody>
          <a:bodyPr wrap="square" lIns="0" tIns="0" rIns="0" bIns="0" rtlCol="0" anchor="t"/>
          <a:lstStyle/>
          <a:p>
            <a:pPr marL="0" indent="0">
              <a:buNone/>
            </a:pPr>
            <a:r>
              <a:rPr lang="en-US" sz="1400" b="1" dirty="0">
                <a:solidFill>
                  <a:schemeClr val="tx2"/>
                </a:solidFill>
              </a:rPr>
              <a:t>Login / Sign-up</a:t>
            </a:r>
            <a:endParaRPr lang="en-US" sz="1400" dirty="0"/>
          </a:p>
          <a:p>
            <a:pPr marL="0" indent="0">
              <a:buNone/>
            </a:pPr>
            <a:r>
              <a:rPr lang="en-US" sz="1400" dirty="0">
                <a:solidFill>
                  <a:schemeClr val="tx1"/>
                </a:solidFill>
              </a:rPr>
              <a:t>Secure access with hashed passwords</a:t>
            </a:r>
            <a:endParaRPr lang="en-US" sz="1400" dirty="0"/>
          </a:p>
        </p:txBody>
      </p:sp>
      <p:sp>
        <p:nvSpPr>
          <p:cNvPr id="6" name="Placeholder – replace with picture"/>
          <p:cNvSpPr/>
          <p:nvPr/>
        </p:nvSpPr>
        <p:spPr>
          <a:xfrm>
            <a:off x="4334256" y="1371600"/>
            <a:ext cx="3520440" cy="3703320"/>
          </a:xfrm>
          <a:prstGeom prst="rect">
            <a:avLst/>
          </a:prstGeom>
          <a:solidFill>
            <a:schemeClr val="bg2"/>
          </a:solidFill>
          <a:ln w="15875">
            <a:solidFill>
              <a:schemeClr val="accent5"/>
            </a:solidFill>
            <a:prstDash val="dash"/>
          </a:ln>
        </p:spPr>
        <p:txBody>
          <a:bodyPr wrap="square" lIns="2540" tIns="2540" rIns="2540" bIns="2540" rtlCol="0" anchor="ctr"/>
          <a:lstStyle/>
          <a:p>
            <a:pPr marL="0" indent="0" algn="ctr">
              <a:buNone/>
            </a:pPr>
            <a:r>
              <a:rPr lang="en-US" sz="1400" i="1" dirty="0">
                <a:solidFill>
                  <a:schemeClr val="tx2"/>
                </a:solidFill>
              </a:rPr>
              <a:t>Screenshot: Dashboard</a:t>
            </a:r>
            <a:endParaRPr lang="en-US" sz="1400" dirty="0"/>
          </a:p>
        </p:txBody>
      </p:sp>
      <p:sp>
        <p:nvSpPr>
          <p:cNvPr id="7" name="Text 4"/>
          <p:cNvSpPr txBox="1"/>
          <p:nvPr/>
        </p:nvSpPr>
        <p:spPr>
          <a:xfrm>
            <a:off x="4334256" y="5257800"/>
            <a:ext cx="3520440" cy="822960"/>
          </a:xfrm>
          <a:prstGeom prst="rect">
            <a:avLst/>
          </a:prstGeom>
          <a:noFill/>
          <a:ln/>
        </p:spPr>
        <p:txBody>
          <a:bodyPr wrap="square" lIns="0" tIns="0" rIns="0" bIns="0" rtlCol="0" anchor="t"/>
          <a:lstStyle/>
          <a:p>
            <a:pPr marL="0" indent="0">
              <a:buNone/>
            </a:pPr>
            <a:r>
              <a:rPr lang="en-US" sz="1400" b="1" dirty="0">
                <a:solidFill>
                  <a:schemeClr val="tx2"/>
                </a:solidFill>
              </a:rPr>
              <a:t>New screening</a:t>
            </a:r>
            <a:endParaRPr lang="en-US" sz="1400" dirty="0"/>
          </a:p>
          <a:p>
            <a:pPr marL="0" indent="0">
              <a:buNone/>
            </a:pPr>
            <a:r>
              <a:rPr lang="en-US" sz="1400" dirty="0">
                <a:solidFill>
                  <a:schemeClr val="tx1"/>
                </a:solidFill>
              </a:rPr>
              <a:t>Upload JD and multiple resumes</a:t>
            </a:r>
            <a:endParaRPr lang="en-US" sz="1400" dirty="0"/>
          </a:p>
        </p:txBody>
      </p:sp>
      <p:sp>
        <p:nvSpPr>
          <p:cNvPr id="8" name="Placeholder – replace with picture"/>
          <p:cNvSpPr/>
          <p:nvPr/>
        </p:nvSpPr>
        <p:spPr>
          <a:xfrm>
            <a:off x="8119872" y="1371600"/>
            <a:ext cx="3520440" cy="3703320"/>
          </a:xfrm>
          <a:prstGeom prst="rect">
            <a:avLst/>
          </a:prstGeom>
          <a:solidFill>
            <a:schemeClr val="bg2"/>
          </a:solidFill>
          <a:ln w="15875">
            <a:solidFill>
              <a:schemeClr val="accent5"/>
            </a:solidFill>
            <a:prstDash val="dash"/>
          </a:ln>
        </p:spPr>
        <p:txBody>
          <a:bodyPr wrap="square" lIns="2540" tIns="2540" rIns="2540" bIns="2540" rtlCol="0" anchor="ctr"/>
          <a:lstStyle/>
          <a:p>
            <a:pPr marL="0" indent="0" algn="ctr">
              <a:buNone/>
            </a:pPr>
            <a:r>
              <a:rPr lang="en-US" sz="1400" i="1" dirty="0">
                <a:solidFill>
                  <a:schemeClr val="tx2"/>
                </a:solidFill>
              </a:rPr>
              <a:t>Screenshot: Ranked results</a:t>
            </a:r>
            <a:endParaRPr lang="en-US" sz="1400" dirty="0"/>
          </a:p>
        </p:txBody>
      </p:sp>
      <p:sp>
        <p:nvSpPr>
          <p:cNvPr id="9" name="Text 6"/>
          <p:cNvSpPr txBox="1"/>
          <p:nvPr/>
        </p:nvSpPr>
        <p:spPr>
          <a:xfrm>
            <a:off x="8119872" y="5257800"/>
            <a:ext cx="3520440" cy="822960"/>
          </a:xfrm>
          <a:prstGeom prst="rect">
            <a:avLst/>
          </a:prstGeom>
          <a:noFill/>
          <a:ln/>
        </p:spPr>
        <p:txBody>
          <a:bodyPr wrap="square" lIns="0" tIns="0" rIns="0" bIns="0" rtlCol="0" anchor="t"/>
          <a:lstStyle/>
          <a:p>
            <a:pPr marL="0" indent="0">
              <a:buNone/>
            </a:pPr>
            <a:r>
              <a:rPr lang="en-US" sz="1400" b="1" dirty="0">
                <a:solidFill>
                  <a:schemeClr val="tx2"/>
                </a:solidFill>
              </a:rPr>
              <a:t>Ranked shortlist</a:t>
            </a:r>
            <a:endParaRPr lang="en-US" sz="1400" dirty="0"/>
          </a:p>
          <a:p>
            <a:pPr marL="0" indent="0">
              <a:buNone/>
            </a:pPr>
            <a:r>
              <a:rPr lang="en-US" sz="1400" dirty="0">
                <a:solidFill>
                  <a:schemeClr val="tx1"/>
                </a:solidFill>
              </a:rPr>
              <a:t>Score bars, matched skills, status</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Results &amp; Performance Comparison</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132320" y="1371600"/>
          <a:ext cx="4507992" cy="2743200"/>
        </p:xfrm>
        <a:graphic>
          <a:graphicData uri="http://schemas.openxmlformats.org/drawingml/2006/table">
            <a:tbl>
              <a:tblPr/>
              <a:tblGrid>
                <a:gridCol w="1280160">
                  <a:extLst>
                    <a:ext uri="{9D8B030D-6E8A-4147-A177-3AD203B41FA5}">
                      <a16:colId xmlns:a16="http://schemas.microsoft.com/office/drawing/2014/main" val="20000"/>
                    </a:ext>
                  </a:extLst>
                </a:gridCol>
                <a:gridCol w="1078992">
                  <a:extLst>
                    <a:ext uri="{9D8B030D-6E8A-4147-A177-3AD203B41FA5}">
                      <a16:colId xmlns:a16="http://schemas.microsoft.com/office/drawing/2014/main" val="20001"/>
                    </a:ext>
                  </a:extLst>
                </a:gridCol>
                <a:gridCol w="1078992">
                  <a:extLst>
                    <a:ext uri="{9D8B030D-6E8A-4147-A177-3AD203B41FA5}">
                      <a16:colId xmlns:a16="http://schemas.microsoft.com/office/drawing/2014/main" val="20002"/>
                    </a:ext>
                  </a:extLst>
                </a:gridCol>
                <a:gridCol w="1069848">
                  <a:extLst>
                    <a:ext uri="{9D8B030D-6E8A-4147-A177-3AD203B41FA5}">
                      <a16:colId xmlns:a16="http://schemas.microsoft.com/office/drawing/2014/main" val="20003"/>
                    </a:ext>
                  </a:extLst>
                </a:gridCol>
              </a:tblGrid>
              <a:tr h="457200">
                <a:tc>
                  <a:txBody>
                    <a:bodyPr/>
                    <a:lstStyle/>
                    <a:p>
                      <a:pPr marL="0" indent="0">
                        <a:buNone/>
                      </a:pPr>
                      <a:r>
                        <a:rPr lang="en-US" sz="1400" b="1" dirty="0">
                          <a:solidFill>
                            <a:srgbClr val="FFFFFF"/>
                          </a:solidFill>
                        </a:rPr>
                        <a:t>Metric</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rPr>
                        <a:t>TF-IDF+Cosine</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rPr>
                        <a:t>SVM / NB</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rPr>
                        <a:t>XGBoost</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457200">
                <a:tc>
                  <a:txBody>
                    <a:bodyPr/>
                    <a:lstStyle/>
                    <a:p>
                      <a:pPr marL="0" indent="0">
                        <a:buNone/>
                      </a:pPr>
                      <a:r>
                        <a:rPr lang="en-US" sz="1400" b="1" dirty="0">
                          <a:solidFill>
                            <a:srgbClr val="1B1F2A"/>
                          </a:solidFill>
                        </a:rPr>
                        <a:t>Accuracy</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TBD</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TBD</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TBD</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400" b="1" dirty="0">
                          <a:solidFill>
                            <a:srgbClr val="1B1F2A"/>
                          </a:solidFill>
                        </a:rPr>
                        <a:t>Precision</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TBD</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TBD</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TBD</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400" b="1" dirty="0">
                          <a:solidFill>
                            <a:srgbClr val="1B1F2A"/>
                          </a:solidFill>
                        </a:rPr>
                        <a:t>Recall</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TBD</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TBD</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TBD</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400" b="1" dirty="0">
                          <a:solidFill>
                            <a:srgbClr val="1B1F2A"/>
                          </a:solidFill>
                        </a:rPr>
                        <a:t>F1-score</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TBD</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TBD</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TBD</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400" b="1" dirty="0">
                          <a:solidFill>
                            <a:srgbClr val="1B1F2A"/>
                          </a:solidFill>
                        </a:rPr>
                        <a:t>ROC-AUC</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TBD</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TBD</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TBD</a:t>
                      </a:r>
                      <a:endParaRPr lang="en-US" sz="1400" dirty="0"/>
                    </a:p>
                  </a:txBody>
                  <a:tcPr marL="73152" marR="73152"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Card"/>
          <p:cNvSpPr/>
          <p:nvPr/>
        </p:nvSpPr>
        <p:spPr>
          <a:xfrm>
            <a:off x="7132320" y="4343400"/>
            <a:ext cx="4507992" cy="960120"/>
          </a:xfrm>
          <a:prstGeom prst="roundRect">
            <a:avLst>
              <a:gd name="adj" fmla="val 11429"/>
            </a:avLst>
          </a:prstGeom>
          <a:solidFill>
            <a:schemeClr val="accent1"/>
          </a:solidFill>
          <a:ln/>
        </p:spPr>
        <p:txBody>
          <a:bodyPr/>
          <a:lstStyle/>
          <a:p>
            <a:endParaRPr lang="en-IN"/>
          </a:p>
        </p:txBody>
      </p:sp>
      <p:sp>
        <p:nvSpPr>
          <p:cNvPr id="7" name="Text 2"/>
          <p:cNvSpPr txBox="1"/>
          <p:nvPr/>
        </p:nvSpPr>
        <p:spPr>
          <a:xfrm>
            <a:off x="7406640" y="4526280"/>
            <a:ext cx="3959352" cy="502920"/>
          </a:xfrm>
          <a:prstGeom prst="rect">
            <a:avLst/>
          </a:prstGeom>
          <a:noFill/>
          <a:ln/>
        </p:spPr>
        <p:txBody>
          <a:bodyPr wrap="square" lIns="0" tIns="0" rIns="0" bIns="0" rtlCol="0" anchor="ctr"/>
          <a:lstStyle/>
          <a:p>
            <a:pPr marL="0" indent="0">
              <a:buNone/>
            </a:pPr>
            <a:r>
              <a:rPr lang="en-US" sz="1800" b="1" dirty="0">
                <a:solidFill>
                  <a:schemeClr val="bg1"/>
                </a:solidFill>
              </a:rPr>
              <a:t>Best: pending – run SVM / NB / XGBoost on the resume dataset</a:t>
            </a:r>
            <a:endParaRPr lang="en-US" sz="1800" dirty="0"/>
          </a:p>
        </p:txBody>
      </p:sp>
      <p:sp>
        <p:nvSpPr>
          <p:cNvPr id="8" name="Text 3"/>
          <p:cNvSpPr txBox="1"/>
          <p:nvPr/>
        </p:nvSpPr>
        <p:spPr>
          <a:xfrm>
            <a:off x="7406640" y="5212080"/>
            <a:ext cx="3959352" cy="0"/>
          </a:xfrm>
          <a:prstGeom prst="rect">
            <a:avLst/>
          </a:prstGeom>
          <a:noFill/>
          <a:ln/>
        </p:spPr>
        <p:txBody>
          <a:bodyPr wrap="square" lIns="0" tIns="0" rIns="0" bIns="0" rtlCol="0" anchor="t"/>
          <a:lstStyle/>
          <a:p>
            <a:pPr marL="0" indent="0">
              <a:buNone/>
            </a:pPr>
            <a:endParaRPr lang="en-US" sz="1400" dirty="0"/>
          </a:p>
        </p:txBody>
      </p:sp>
      <p:sp>
        <p:nvSpPr>
          <p:cNvPr id="9" name="Text 4"/>
          <p:cNvSpPr txBox="1"/>
          <p:nvPr/>
        </p:nvSpPr>
        <p:spPr>
          <a:xfrm>
            <a:off x="548640" y="5577840"/>
            <a:ext cx="11091672" cy="320040"/>
          </a:xfrm>
          <a:prstGeom prst="rect">
            <a:avLst/>
          </a:prstGeom>
          <a:noFill/>
          <a:ln/>
        </p:spPr>
        <p:txBody>
          <a:bodyPr wrap="square" lIns="0" tIns="0" rIns="0" bIns="0" rtlCol="0" anchor="t"/>
          <a:lstStyle/>
          <a:p>
            <a:pPr marL="0" indent="0">
              <a:buNone/>
            </a:pPr>
            <a:r>
              <a:rPr lang="en-US" sz="1200" i="1" dirty="0">
                <a:solidFill>
                  <a:schemeClr val="accent5"/>
                </a:solidFill>
              </a:rPr>
              <a:t>Metrics to be filled after classifier evaluation (not yet run).</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Analysis &amp; Key Findings</a:t>
            </a:r>
            <a:endParaRPr lang="en-US" sz="3200" dirty="0"/>
          </a:p>
        </p:txBody>
      </p:sp>
      <p:sp>
        <p:nvSpPr>
          <p:cNvPr id="4" name="Placeholder – replace with picture"/>
          <p:cNvSpPr/>
          <p:nvPr/>
        </p:nvSpPr>
        <p:spPr>
          <a:xfrm>
            <a:off x="548640" y="1371600"/>
            <a:ext cx="5943600" cy="4754880"/>
          </a:xfrm>
          <a:prstGeom prst="rect">
            <a:avLst/>
          </a:prstGeom>
          <a:solidFill>
            <a:schemeClr val="bg2"/>
          </a:solidFill>
          <a:ln w="15875">
            <a:solidFill>
              <a:schemeClr val="accent5"/>
            </a:solidFill>
            <a:prstDash val="dash"/>
          </a:ln>
        </p:spPr>
        <p:txBody>
          <a:bodyPr wrap="square" lIns="2540" tIns="2540" rIns="2540" bIns="2540" rtlCol="0" anchor="ctr"/>
          <a:lstStyle/>
          <a:p>
            <a:pPr marL="0" indent="0" algn="ctr">
              <a:buNone/>
            </a:pPr>
            <a:r>
              <a:rPr lang="en-US" sz="1400" i="1" dirty="0">
                <a:solidFill>
                  <a:schemeClr val="tx2"/>
                </a:solidFill>
              </a:rPr>
              <a:t>Insert confusion matrix after classifier evaluation</a:t>
            </a:r>
            <a:endParaRPr lang="en-US" sz="1400" dirty="0"/>
          </a:p>
        </p:txBody>
      </p:sp>
      <p:sp>
        <p:nvSpPr>
          <p:cNvPr id="5" name="Card"/>
          <p:cNvSpPr/>
          <p:nvPr/>
        </p:nvSpPr>
        <p:spPr>
          <a:xfrm>
            <a:off x="6766560" y="1371600"/>
            <a:ext cx="4873752" cy="1645920"/>
          </a:xfrm>
          <a:prstGeom prst="roundRect">
            <a:avLst>
              <a:gd name="adj" fmla="val 6667"/>
            </a:avLst>
          </a:prstGeom>
          <a:solidFill>
            <a:schemeClr val="tx2"/>
          </a:solidFill>
          <a:ln/>
        </p:spPr>
        <p:txBody>
          <a:bodyPr/>
          <a:lstStyle/>
          <a:p>
            <a:endParaRPr lang="en-IN"/>
          </a:p>
        </p:txBody>
      </p:sp>
      <p:sp>
        <p:nvSpPr>
          <p:cNvPr id="6" name="Text 3"/>
          <p:cNvSpPr txBox="1"/>
          <p:nvPr/>
        </p:nvSpPr>
        <p:spPr>
          <a:xfrm>
            <a:off x="7040880" y="1508760"/>
            <a:ext cx="4297680" cy="868680"/>
          </a:xfrm>
          <a:prstGeom prst="rect">
            <a:avLst/>
          </a:prstGeom>
          <a:noFill/>
          <a:ln/>
        </p:spPr>
        <p:txBody>
          <a:bodyPr wrap="square" lIns="0" tIns="0" rIns="0" bIns="0" rtlCol="0" anchor="ctr"/>
          <a:lstStyle/>
          <a:p>
            <a:pPr marL="0" indent="0">
              <a:buNone/>
            </a:pPr>
            <a:r>
              <a:rPr lang="en-US" sz="5400" b="1" dirty="0">
                <a:solidFill>
                  <a:schemeClr val="bg1"/>
                </a:solidFill>
                <a:latin typeface="Cambria" pitchFamily="34" charset="0"/>
                <a:ea typeface="Cambria" pitchFamily="34" charset="-122"/>
                <a:cs typeface="Cambria" pitchFamily="34" charset="-120"/>
              </a:rPr>
              <a:t>3 / 4</a:t>
            </a:r>
            <a:endParaRPr lang="en-US" sz="5400" dirty="0"/>
          </a:p>
        </p:txBody>
      </p:sp>
      <p:sp>
        <p:nvSpPr>
          <p:cNvPr id="7" name="Text 4"/>
          <p:cNvSpPr txBox="1"/>
          <p:nvPr/>
        </p:nvSpPr>
        <p:spPr>
          <a:xfrm>
            <a:off x="7040880" y="2423160"/>
            <a:ext cx="4297680" cy="457200"/>
          </a:xfrm>
          <a:prstGeom prst="rect">
            <a:avLst/>
          </a:prstGeom>
          <a:noFill/>
          <a:ln/>
        </p:spPr>
        <p:txBody>
          <a:bodyPr wrap="square" lIns="0" tIns="0" rIns="0" bIns="0" rtlCol="0" anchor="t"/>
          <a:lstStyle/>
          <a:p>
            <a:pPr marL="0" indent="0">
              <a:buNone/>
            </a:pPr>
            <a:r>
              <a:rPr lang="en-US" sz="1600" dirty="0">
                <a:solidFill>
                  <a:schemeClr val="bg2"/>
                </a:solidFill>
              </a:rPr>
              <a:t>Test cases passed (live Gmail test pending)</a:t>
            </a:r>
            <a:endParaRPr lang="en-US" sz="1600" dirty="0"/>
          </a:p>
        </p:txBody>
      </p:sp>
      <p:sp>
        <p:nvSpPr>
          <p:cNvPr id="8" name="Card"/>
          <p:cNvSpPr/>
          <p:nvPr/>
        </p:nvSpPr>
        <p:spPr>
          <a:xfrm>
            <a:off x="6766560" y="3246120"/>
            <a:ext cx="4873752" cy="2880360"/>
          </a:xfrm>
          <a:prstGeom prst="roundRect">
            <a:avLst>
              <a:gd name="adj" fmla="val 3810"/>
            </a:avLst>
          </a:prstGeom>
          <a:solidFill>
            <a:schemeClr val="bg2"/>
          </a:solidFill>
          <a:ln/>
        </p:spPr>
        <p:txBody>
          <a:bodyPr/>
          <a:lstStyle/>
          <a:p>
            <a:endParaRPr lang="en-IN"/>
          </a:p>
        </p:txBody>
      </p:sp>
      <p:sp>
        <p:nvSpPr>
          <p:cNvPr id="9" name="Text 6"/>
          <p:cNvSpPr txBox="1"/>
          <p:nvPr/>
        </p:nvSpPr>
        <p:spPr>
          <a:xfrm>
            <a:off x="7040880" y="3474720"/>
            <a:ext cx="4343400" cy="2468880"/>
          </a:xfrm>
          <a:prstGeom prst="rect">
            <a:avLst/>
          </a:prstGeom>
          <a:noFill/>
          <a:ln/>
        </p:spPr>
        <p:txBody>
          <a:bodyPr wrap="square" lIns="0" tIns="0" rIns="0" bIns="0" rtlCol="0" anchor="t"/>
          <a:lstStyle/>
          <a:p>
            <a:pPr marL="0" indent="0">
              <a:buNone/>
            </a:pPr>
            <a:r>
              <a:rPr lang="en-US" sz="1600" b="1" dirty="0">
                <a:solidFill>
                  <a:schemeClr val="tx2"/>
                </a:solidFill>
              </a:rPr>
              <a:t>Interpretation: </a:t>
            </a:r>
            <a:r>
              <a:rPr lang="en-US" sz="1600" dirty="0">
                <a:solidFill>
                  <a:schemeClr val="tx1"/>
                </a:solidFill>
              </a:rPr>
              <a:t>a resume with matching skills scored 76.4 % (Shortlisted); an unrelated one scored 0 %.</a:t>
            </a:r>
            <a:endParaRPr lang="en-US" sz="1600" dirty="0"/>
          </a:p>
          <a:p>
            <a:pPr marL="0" indent="0">
              <a:buNone/>
            </a:pPr>
            <a:r>
              <a:rPr lang="en-US" sz="1600" b="1" dirty="0">
                <a:solidFill>
                  <a:schemeClr val="tx2"/>
                </a:solidFill>
              </a:rPr>
              <a:t>Error analysis: </a:t>
            </a:r>
            <a:r>
              <a:rPr lang="en-US" sz="1600" dirty="0">
                <a:solidFill>
                  <a:schemeClr val="tx1"/>
                </a:solidFill>
              </a:rPr>
              <a:t>skills outside the dictionary are not counted.</a:t>
            </a:r>
            <a:endParaRPr lang="en-US" sz="1600" dirty="0"/>
          </a:p>
          <a:p>
            <a:pPr marL="0" indent="0">
              <a:buNone/>
            </a:pPr>
            <a:r>
              <a:rPr lang="en-US" sz="1600" b="1" dirty="0">
                <a:solidFill>
                  <a:schemeClr val="tx2"/>
                </a:solidFill>
              </a:rPr>
              <a:t>Key drivers: </a:t>
            </a:r>
            <a:r>
              <a:rPr lang="en-US" sz="1600" dirty="0">
                <a:solidFill>
                  <a:schemeClr val="tx1"/>
                </a:solidFill>
              </a:rPr>
              <a:t>TF-IDF cosine similarity and skill overlap.</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Testing &amp; Validation</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2468880"/>
        </p:xfrm>
        <a:graphic>
          <a:graphicData uri="http://schemas.openxmlformats.org/drawingml/2006/table">
            <a:tbl>
              <a:tblPr/>
              <a:tblGrid>
                <a:gridCol w="118872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gridCol w="1307592">
                  <a:extLst>
                    <a:ext uri="{9D8B030D-6E8A-4147-A177-3AD203B41FA5}">
                      <a16:colId xmlns:a16="http://schemas.microsoft.com/office/drawing/2014/main" val="20004"/>
                    </a:ext>
                  </a:extLst>
                </a:gridCol>
              </a:tblGrid>
              <a:tr h="457200">
                <a:tc>
                  <a:txBody>
                    <a:bodyPr/>
                    <a:lstStyle/>
                    <a:p>
                      <a:pPr marL="0" indent="0">
                        <a:buNone/>
                      </a:pPr>
                      <a:r>
                        <a:rPr lang="en-US" sz="1400" b="1" dirty="0">
                          <a:solidFill>
                            <a:srgbClr val="FFFFFF"/>
                          </a:solidFill>
                        </a:rPr>
                        <a:t>Test ID</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rPr>
                        <a:t>Test Description</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rPr>
                        <a:t>Expected Result</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rPr>
                        <a:t>Actual Result</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rPr>
                        <a:t>Status</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502920">
                <a:tc>
                  <a:txBody>
                    <a:bodyPr/>
                    <a:lstStyle/>
                    <a:p>
                      <a:pPr marL="0" indent="0" algn="ctr">
                        <a:buNone/>
                      </a:pPr>
                      <a:r>
                        <a:rPr lang="en-US" sz="1400" dirty="0">
                          <a:solidFill>
                            <a:srgbClr val="1B1F2A"/>
                          </a:solidFill>
                        </a:rPr>
                        <a:t>TC-01</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Create account via sign-up</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Account saved, user logged in</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Account created, redirected</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Pass</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ctr">
                        <a:buNone/>
                      </a:pPr>
                      <a:r>
                        <a:rPr lang="en-US" sz="1400" dirty="0">
                          <a:solidFill>
                            <a:srgbClr val="1B1F2A"/>
                          </a:solidFill>
                        </a:rPr>
                        <a:t>TC-02</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Rank 2 resumes against a JD</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Relevant resume ranked first</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76.4 % Shortlisted vs 0 % Rejected</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Pass</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ctr">
                        <a:buNone/>
                      </a:pPr>
                      <a:r>
                        <a:rPr lang="en-US" sz="1400" dirty="0">
                          <a:solidFill>
                            <a:srgbClr val="1B1F2A"/>
                          </a:solidFill>
                        </a:rPr>
                        <a:t>TC-03</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Login with wrong password</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Login rejected</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Error message shown</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Pass</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ctr">
                        <a:buNone/>
                      </a:pPr>
                      <a:r>
                        <a:rPr lang="en-US" sz="1400" dirty="0">
                          <a:solidFill>
                            <a:srgbClr val="1B1F2A"/>
                          </a:solidFill>
                        </a:rPr>
                        <a:t>TC-04</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Gmail SMTP alert</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Email in inbox</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Needs live App Password test</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F2A"/>
                          </a:solidFill>
                        </a:rPr>
                        <a:t>Pending</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Card"/>
          <p:cNvSpPr/>
          <p:nvPr/>
        </p:nvSpPr>
        <p:spPr>
          <a:xfrm>
            <a:off x="548640" y="4297680"/>
            <a:ext cx="3520440" cy="1783080"/>
          </a:xfrm>
          <a:prstGeom prst="roundRect">
            <a:avLst>
              <a:gd name="adj" fmla="val 6154"/>
            </a:avLst>
          </a:prstGeom>
          <a:solidFill>
            <a:schemeClr val="bg2"/>
          </a:solidFill>
          <a:ln/>
        </p:spPr>
        <p:txBody>
          <a:bodyPr/>
          <a:lstStyle/>
          <a:p>
            <a:endParaRPr lang="en-IN"/>
          </a:p>
        </p:txBody>
      </p:sp>
      <p:sp>
        <p:nvSpPr>
          <p:cNvPr id="6" name="Icon badge"/>
          <p:cNvSpPr/>
          <p:nvPr/>
        </p:nvSpPr>
        <p:spPr>
          <a:xfrm>
            <a:off x="822960" y="4480560"/>
            <a:ext cx="502920" cy="502920"/>
          </a:xfrm>
          <a:prstGeom prst="ellipse">
            <a:avLst/>
          </a:prstGeom>
          <a:solidFill>
            <a:schemeClr val="accent1"/>
          </a:solidFill>
          <a:ln/>
        </p:spPr>
        <p:txBody>
          <a:bodyPr/>
          <a:lstStyle/>
          <a:p>
            <a:endParaRPr lang="en-IN"/>
          </a:p>
        </p:txBody>
      </p:sp>
      <p:pic>
        <p:nvPicPr>
          <p:cNvPr id="7" name="Image 0" descr="CheckCircle icon"/>
          <p:cNvPicPr>
            <a:picLocks noChangeAspect="1"/>
          </p:cNvPicPr>
          <p:nvPr/>
        </p:nvPicPr>
        <p:blipFill>
          <a:blip r:embed="rId3"/>
          <a:stretch>
            <a:fillRect/>
          </a:stretch>
        </p:blipFill>
        <p:spPr>
          <a:xfrm>
            <a:off x="933602" y="4591202"/>
            <a:ext cx="281635" cy="281635"/>
          </a:xfrm>
          <a:prstGeom prst="rect">
            <a:avLst/>
          </a:prstGeom>
        </p:spPr>
      </p:pic>
      <p:sp>
        <p:nvSpPr>
          <p:cNvPr id="8" name="Text 3"/>
          <p:cNvSpPr txBox="1"/>
          <p:nvPr/>
        </p:nvSpPr>
        <p:spPr>
          <a:xfrm>
            <a:off x="1508760" y="4480560"/>
            <a:ext cx="2331720" cy="502920"/>
          </a:xfrm>
          <a:prstGeom prst="rect">
            <a:avLst/>
          </a:prstGeom>
          <a:noFill/>
          <a:ln/>
        </p:spPr>
        <p:txBody>
          <a:bodyPr wrap="square" lIns="0" tIns="0" rIns="0" bIns="0" rtlCol="0" anchor="ctr"/>
          <a:lstStyle/>
          <a:p>
            <a:pPr marL="0" indent="0">
              <a:buNone/>
            </a:pPr>
            <a:r>
              <a:rPr lang="en-US" sz="1800" b="1" dirty="0">
                <a:solidFill>
                  <a:schemeClr val="tx2"/>
                </a:solidFill>
              </a:rPr>
              <a:t>Functional Testing</a:t>
            </a:r>
            <a:endParaRPr lang="en-US" sz="1800" dirty="0"/>
          </a:p>
        </p:txBody>
      </p:sp>
      <p:sp>
        <p:nvSpPr>
          <p:cNvPr id="9" name="Text 4"/>
          <p:cNvSpPr txBox="1"/>
          <p:nvPr/>
        </p:nvSpPr>
        <p:spPr>
          <a:xfrm>
            <a:off x="822960" y="5166360"/>
            <a:ext cx="2971800" cy="777240"/>
          </a:xfrm>
          <a:prstGeom prst="rect">
            <a:avLst/>
          </a:prstGeom>
          <a:noFill/>
          <a:ln/>
        </p:spPr>
        <p:txBody>
          <a:bodyPr wrap="square" lIns="0" tIns="0" rIns="0" bIns="0" rtlCol="0" anchor="t"/>
          <a:lstStyle/>
          <a:p>
            <a:pPr marL="0" indent="0">
              <a:buNone/>
            </a:pPr>
            <a:r>
              <a:rPr lang="en-US" sz="1400" dirty="0">
                <a:solidFill>
                  <a:schemeClr val="tx1"/>
                </a:solidFill>
              </a:rPr>
              <a:t>Sign-up, login and ranking tested with Flask test client</a:t>
            </a:r>
            <a:endParaRPr lang="en-US" sz="1400" dirty="0"/>
          </a:p>
        </p:txBody>
      </p:sp>
      <p:sp>
        <p:nvSpPr>
          <p:cNvPr id="10" name="Card"/>
          <p:cNvSpPr/>
          <p:nvPr/>
        </p:nvSpPr>
        <p:spPr>
          <a:xfrm>
            <a:off x="4334256" y="4297680"/>
            <a:ext cx="3520440" cy="1783080"/>
          </a:xfrm>
          <a:prstGeom prst="roundRect">
            <a:avLst>
              <a:gd name="adj" fmla="val 6154"/>
            </a:avLst>
          </a:prstGeom>
          <a:solidFill>
            <a:schemeClr val="bg2"/>
          </a:solidFill>
          <a:ln/>
        </p:spPr>
        <p:txBody>
          <a:bodyPr/>
          <a:lstStyle/>
          <a:p>
            <a:endParaRPr lang="en-IN"/>
          </a:p>
        </p:txBody>
      </p:sp>
      <p:sp>
        <p:nvSpPr>
          <p:cNvPr id="11" name="Icon badge"/>
          <p:cNvSpPr/>
          <p:nvPr/>
        </p:nvSpPr>
        <p:spPr>
          <a:xfrm>
            <a:off x="4608576" y="4480560"/>
            <a:ext cx="502920" cy="502920"/>
          </a:xfrm>
          <a:prstGeom prst="ellipse">
            <a:avLst/>
          </a:prstGeom>
          <a:solidFill>
            <a:schemeClr val="accent1"/>
          </a:solidFill>
          <a:ln/>
        </p:spPr>
        <p:txBody>
          <a:bodyPr/>
          <a:lstStyle/>
          <a:p>
            <a:endParaRPr lang="en-IN"/>
          </a:p>
        </p:txBody>
      </p:sp>
      <p:pic>
        <p:nvPicPr>
          <p:cNvPr id="12" name="Image 1" descr="SyncAlt icon"/>
          <p:cNvPicPr>
            <a:picLocks noChangeAspect="1"/>
          </p:cNvPicPr>
          <p:nvPr/>
        </p:nvPicPr>
        <p:blipFill>
          <a:blip r:embed="rId4"/>
          <a:stretch>
            <a:fillRect/>
          </a:stretch>
        </p:blipFill>
        <p:spPr>
          <a:xfrm>
            <a:off x="4719218" y="4591202"/>
            <a:ext cx="281635" cy="281635"/>
          </a:xfrm>
          <a:prstGeom prst="rect">
            <a:avLst/>
          </a:prstGeom>
        </p:spPr>
      </p:pic>
      <p:sp>
        <p:nvSpPr>
          <p:cNvPr id="13" name="Text 7"/>
          <p:cNvSpPr txBox="1"/>
          <p:nvPr/>
        </p:nvSpPr>
        <p:spPr>
          <a:xfrm>
            <a:off x="5294376" y="4480560"/>
            <a:ext cx="2331720" cy="502920"/>
          </a:xfrm>
          <a:prstGeom prst="rect">
            <a:avLst/>
          </a:prstGeom>
          <a:noFill/>
          <a:ln/>
        </p:spPr>
        <p:txBody>
          <a:bodyPr wrap="square" lIns="0" tIns="0" rIns="0" bIns="0" rtlCol="0" anchor="ctr"/>
          <a:lstStyle/>
          <a:p>
            <a:pPr marL="0" indent="0">
              <a:buNone/>
            </a:pPr>
            <a:r>
              <a:rPr lang="en-US" sz="1800" b="1" dirty="0">
                <a:solidFill>
                  <a:schemeClr val="tx2"/>
                </a:solidFill>
              </a:rPr>
              <a:t>Validation Method</a:t>
            </a:r>
            <a:endParaRPr lang="en-US" sz="1800" dirty="0"/>
          </a:p>
        </p:txBody>
      </p:sp>
      <p:sp>
        <p:nvSpPr>
          <p:cNvPr id="14" name="Text 8"/>
          <p:cNvSpPr txBox="1"/>
          <p:nvPr/>
        </p:nvSpPr>
        <p:spPr>
          <a:xfrm>
            <a:off x="4608576" y="5166360"/>
            <a:ext cx="2971800" cy="777240"/>
          </a:xfrm>
          <a:prstGeom prst="rect">
            <a:avLst/>
          </a:prstGeom>
          <a:noFill/>
          <a:ln/>
        </p:spPr>
        <p:txBody>
          <a:bodyPr wrap="square" lIns="0" tIns="0" rIns="0" bIns="0" rtlCol="0" anchor="t"/>
          <a:lstStyle/>
          <a:p>
            <a:pPr marL="0" indent="0">
              <a:buNone/>
            </a:pPr>
            <a:r>
              <a:rPr lang="en-US" sz="1400" dirty="0">
                <a:solidFill>
                  <a:schemeClr val="tx1"/>
                </a:solidFill>
              </a:rPr>
              <a:t>Hold-out manual test cases (classifier CV pending)</a:t>
            </a:r>
            <a:endParaRPr lang="en-US" sz="1400" dirty="0"/>
          </a:p>
        </p:txBody>
      </p:sp>
      <p:sp>
        <p:nvSpPr>
          <p:cNvPr id="15" name="Card"/>
          <p:cNvSpPr/>
          <p:nvPr/>
        </p:nvSpPr>
        <p:spPr>
          <a:xfrm>
            <a:off x="8119872" y="4297680"/>
            <a:ext cx="3520440" cy="1783080"/>
          </a:xfrm>
          <a:prstGeom prst="roundRect">
            <a:avLst>
              <a:gd name="adj" fmla="val 6154"/>
            </a:avLst>
          </a:prstGeom>
          <a:solidFill>
            <a:schemeClr val="bg2"/>
          </a:solidFill>
          <a:ln/>
        </p:spPr>
        <p:txBody>
          <a:bodyPr/>
          <a:lstStyle/>
          <a:p>
            <a:endParaRPr lang="en-IN"/>
          </a:p>
        </p:txBody>
      </p:sp>
      <p:sp>
        <p:nvSpPr>
          <p:cNvPr id="16" name="Icon badge"/>
          <p:cNvSpPr/>
          <p:nvPr/>
        </p:nvSpPr>
        <p:spPr>
          <a:xfrm>
            <a:off x="8394192" y="4480560"/>
            <a:ext cx="502920" cy="502920"/>
          </a:xfrm>
          <a:prstGeom prst="ellipse">
            <a:avLst/>
          </a:prstGeom>
          <a:solidFill>
            <a:schemeClr val="accent1"/>
          </a:solidFill>
          <a:ln/>
        </p:spPr>
        <p:txBody>
          <a:bodyPr/>
          <a:lstStyle/>
          <a:p>
            <a:endParaRPr lang="en-IN"/>
          </a:p>
        </p:txBody>
      </p:sp>
      <p:pic>
        <p:nvPicPr>
          <p:cNvPr id="17" name="Image 2" descr="ChartLine icon"/>
          <p:cNvPicPr>
            <a:picLocks noChangeAspect="1"/>
          </p:cNvPicPr>
          <p:nvPr/>
        </p:nvPicPr>
        <p:blipFill>
          <a:blip r:embed="rId5"/>
          <a:stretch>
            <a:fillRect/>
          </a:stretch>
        </p:blipFill>
        <p:spPr>
          <a:xfrm>
            <a:off x="8504834" y="4591202"/>
            <a:ext cx="281635" cy="281635"/>
          </a:xfrm>
          <a:prstGeom prst="rect">
            <a:avLst/>
          </a:prstGeom>
        </p:spPr>
      </p:pic>
      <p:sp>
        <p:nvSpPr>
          <p:cNvPr id="18" name="Text 11"/>
          <p:cNvSpPr txBox="1"/>
          <p:nvPr/>
        </p:nvSpPr>
        <p:spPr>
          <a:xfrm>
            <a:off x="9079992" y="4480560"/>
            <a:ext cx="2331720" cy="502920"/>
          </a:xfrm>
          <a:prstGeom prst="rect">
            <a:avLst/>
          </a:prstGeom>
          <a:noFill/>
          <a:ln/>
        </p:spPr>
        <p:txBody>
          <a:bodyPr wrap="square" lIns="0" tIns="0" rIns="0" bIns="0" rtlCol="0" anchor="ctr"/>
          <a:lstStyle/>
          <a:p>
            <a:pPr marL="0" indent="0">
              <a:buNone/>
            </a:pPr>
            <a:r>
              <a:rPr lang="en-US" sz="1800" b="1" dirty="0">
                <a:solidFill>
                  <a:schemeClr val="tx2"/>
                </a:solidFill>
              </a:rPr>
              <a:t>Performance Testing</a:t>
            </a:r>
            <a:endParaRPr lang="en-US" sz="1800" dirty="0"/>
          </a:p>
        </p:txBody>
      </p:sp>
      <p:sp>
        <p:nvSpPr>
          <p:cNvPr id="3" name="Text 12"/>
          <p:cNvSpPr txBox="1"/>
          <p:nvPr/>
        </p:nvSpPr>
        <p:spPr>
          <a:xfrm>
            <a:off x="8394192" y="5166360"/>
            <a:ext cx="2971800" cy="777240"/>
          </a:xfrm>
          <a:prstGeom prst="rect">
            <a:avLst/>
          </a:prstGeom>
          <a:noFill/>
          <a:ln/>
        </p:spPr>
        <p:txBody>
          <a:bodyPr wrap="square" lIns="0" tIns="0" rIns="0" bIns="0" rtlCol="0" anchor="t"/>
          <a:lstStyle/>
          <a:p>
            <a:pPr marL="0" indent="0">
              <a:buNone/>
            </a:pPr>
            <a:r>
              <a:rPr lang="en-US" sz="1400" dirty="0">
                <a:solidFill>
                  <a:schemeClr val="tx1"/>
                </a:solidFill>
              </a:rPr>
              <a:t>Single screening of 2 resumes runs in under a second</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Challenges &amp; Limitations</a:t>
            </a:r>
            <a:endParaRPr lang="en-US" sz="3200" dirty="0"/>
          </a:p>
        </p:txBody>
      </p:sp>
      <p:sp>
        <p:nvSpPr>
          <p:cNvPr id="4" name="Card"/>
          <p:cNvSpPr/>
          <p:nvPr/>
        </p:nvSpPr>
        <p:spPr>
          <a:xfrm>
            <a:off x="548640" y="1371600"/>
            <a:ext cx="5431536" cy="3566160"/>
          </a:xfrm>
          <a:prstGeom prst="roundRect">
            <a:avLst>
              <a:gd name="adj" fmla="val 3077"/>
            </a:avLst>
          </a:prstGeom>
          <a:solidFill>
            <a:schemeClr val="bg2"/>
          </a:solidFill>
          <a:ln/>
        </p:spPr>
        <p:txBody>
          <a:bodyPr/>
          <a:lstStyle/>
          <a:p>
            <a:endParaRPr lang="en-IN"/>
          </a:p>
        </p:txBody>
      </p:sp>
      <p:sp>
        <p:nvSpPr>
          <p:cNvPr id="5" name="Icon badge"/>
          <p:cNvSpPr/>
          <p:nvPr/>
        </p:nvSpPr>
        <p:spPr>
          <a:xfrm>
            <a:off x="822960" y="1554480"/>
            <a:ext cx="502920" cy="502920"/>
          </a:xfrm>
          <a:prstGeom prst="ellipse">
            <a:avLst/>
          </a:prstGeom>
          <a:solidFill>
            <a:schemeClr val="accent1"/>
          </a:solidFill>
          <a:ln/>
        </p:spPr>
        <p:txBody>
          <a:bodyPr/>
          <a:lstStyle/>
          <a:p>
            <a:endParaRPr lang="en-IN"/>
          </a:p>
        </p:txBody>
      </p:sp>
      <p:pic>
        <p:nvPicPr>
          <p:cNvPr id="6" name="Image 0" descr="Mountain icon"/>
          <p:cNvPicPr>
            <a:picLocks noChangeAspect="1"/>
          </p:cNvPicPr>
          <p:nvPr/>
        </p:nvPicPr>
        <p:blipFill>
          <a:blip r:embed="rId3"/>
          <a:stretch>
            <a:fillRect/>
          </a:stretch>
        </p:blipFill>
        <p:spPr>
          <a:xfrm>
            <a:off x="933602" y="1665122"/>
            <a:ext cx="281635" cy="281635"/>
          </a:xfrm>
          <a:prstGeom prst="rect">
            <a:avLst/>
          </a:prstGeom>
        </p:spPr>
      </p:pic>
      <p:sp>
        <p:nvSpPr>
          <p:cNvPr id="7" name="Text 3"/>
          <p:cNvSpPr txBox="1"/>
          <p:nvPr/>
        </p:nvSpPr>
        <p:spPr>
          <a:xfrm>
            <a:off x="1508760" y="1554480"/>
            <a:ext cx="4242816" cy="502920"/>
          </a:xfrm>
          <a:prstGeom prst="rect">
            <a:avLst/>
          </a:prstGeom>
          <a:noFill/>
          <a:ln/>
        </p:spPr>
        <p:txBody>
          <a:bodyPr wrap="square" lIns="0" tIns="0" rIns="0" bIns="0" rtlCol="0" anchor="ctr"/>
          <a:lstStyle/>
          <a:p>
            <a:pPr marL="0" indent="0">
              <a:buNone/>
            </a:pPr>
            <a:r>
              <a:rPr lang="en-US" sz="1800" b="1" dirty="0">
                <a:solidFill>
                  <a:schemeClr val="tx2"/>
                </a:solidFill>
              </a:rPr>
              <a:t>Challenges Faced</a:t>
            </a:r>
            <a:endParaRPr lang="en-US" sz="1800" dirty="0"/>
          </a:p>
        </p:txBody>
      </p:sp>
      <p:sp>
        <p:nvSpPr>
          <p:cNvPr id="8" name="Text 4"/>
          <p:cNvSpPr txBox="1"/>
          <p:nvPr/>
        </p:nvSpPr>
        <p:spPr>
          <a:xfrm>
            <a:off x="822960" y="2240280"/>
            <a:ext cx="4882896" cy="256032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1"/>
                </a:solidFill>
              </a:rPr>
              <a:t>Different resume layouts → text extraction via pypdf / python-docx</a:t>
            </a:r>
            <a:endParaRPr lang="en-US" sz="1600" dirty="0"/>
          </a:p>
          <a:p>
            <a:pPr marL="342900" indent="-342900">
              <a:spcAft>
                <a:spcPts val="1400"/>
              </a:spcAft>
              <a:buSzPct val="100000"/>
              <a:buChar char="•"/>
            </a:pPr>
            <a:r>
              <a:rPr lang="en-US" sz="1600" dirty="0">
                <a:solidFill>
                  <a:schemeClr val="tx1"/>
                </a:solidFill>
              </a:rPr>
              <a:t>Fixed skill vocabulary → 30-skill dictionary, extendable</a:t>
            </a:r>
            <a:endParaRPr lang="en-US" sz="1600" dirty="0"/>
          </a:p>
          <a:p>
            <a:pPr marL="342900" indent="-342900">
              <a:spcAft>
                <a:spcPts val="1400"/>
              </a:spcAft>
              <a:buSzPct val="100000"/>
              <a:buChar char="•"/>
            </a:pPr>
            <a:r>
              <a:rPr lang="en-US" sz="1600" dirty="0">
                <a:solidFill>
                  <a:schemeClr val="tx1"/>
                </a:solidFill>
              </a:rPr>
              <a:t>Gmail blocks passwords → App Password + SMTP SSL</a:t>
            </a:r>
            <a:endParaRPr lang="en-US" sz="1600" dirty="0"/>
          </a:p>
        </p:txBody>
      </p:sp>
      <p:sp>
        <p:nvSpPr>
          <p:cNvPr id="9" name="Card"/>
          <p:cNvSpPr/>
          <p:nvPr/>
        </p:nvSpPr>
        <p:spPr>
          <a:xfrm>
            <a:off x="6208776" y="1371600"/>
            <a:ext cx="5431536" cy="3566160"/>
          </a:xfrm>
          <a:prstGeom prst="roundRect">
            <a:avLst>
              <a:gd name="adj" fmla="val 3077"/>
            </a:avLst>
          </a:prstGeom>
          <a:solidFill>
            <a:schemeClr val="bg2"/>
          </a:solidFill>
          <a:ln/>
        </p:spPr>
        <p:txBody>
          <a:bodyPr/>
          <a:lstStyle/>
          <a:p>
            <a:endParaRPr lang="en-IN"/>
          </a:p>
        </p:txBody>
      </p:sp>
      <p:sp>
        <p:nvSpPr>
          <p:cNvPr id="10" name="Icon badge"/>
          <p:cNvSpPr/>
          <p:nvPr/>
        </p:nvSpPr>
        <p:spPr>
          <a:xfrm>
            <a:off x="6483096" y="1554480"/>
            <a:ext cx="502920" cy="502920"/>
          </a:xfrm>
          <a:prstGeom prst="ellipse">
            <a:avLst/>
          </a:prstGeom>
          <a:solidFill>
            <a:schemeClr val="accent4"/>
          </a:solidFill>
          <a:ln/>
        </p:spPr>
        <p:txBody>
          <a:bodyPr/>
          <a:lstStyle/>
          <a:p>
            <a:endParaRPr lang="en-IN"/>
          </a:p>
        </p:txBody>
      </p:sp>
      <p:pic>
        <p:nvPicPr>
          <p:cNvPr id="11" name="Image 1" descr="Ban icon"/>
          <p:cNvPicPr>
            <a:picLocks noChangeAspect="1"/>
          </p:cNvPicPr>
          <p:nvPr/>
        </p:nvPicPr>
        <p:blipFill>
          <a:blip r:embed="rId4"/>
          <a:stretch>
            <a:fillRect/>
          </a:stretch>
        </p:blipFill>
        <p:spPr>
          <a:xfrm>
            <a:off x="6593738" y="1665122"/>
            <a:ext cx="281635" cy="281635"/>
          </a:xfrm>
          <a:prstGeom prst="rect">
            <a:avLst/>
          </a:prstGeom>
        </p:spPr>
      </p:pic>
      <p:sp>
        <p:nvSpPr>
          <p:cNvPr id="12" name="Text 7"/>
          <p:cNvSpPr txBox="1"/>
          <p:nvPr/>
        </p:nvSpPr>
        <p:spPr>
          <a:xfrm>
            <a:off x="7168896" y="1554480"/>
            <a:ext cx="4242816" cy="502920"/>
          </a:xfrm>
          <a:prstGeom prst="rect">
            <a:avLst/>
          </a:prstGeom>
          <a:noFill/>
          <a:ln/>
        </p:spPr>
        <p:txBody>
          <a:bodyPr wrap="square" lIns="0" tIns="0" rIns="0" bIns="0" rtlCol="0" anchor="ctr"/>
          <a:lstStyle/>
          <a:p>
            <a:pPr marL="0" indent="0">
              <a:buNone/>
            </a:pPr>
            <a:r>
              <a:rPr lang="en-US" sz="1800" b="1" dirty="0">
                <a:solidFill>
                  <a:schemeClr val="tx2"/>
                </a:solidFill>
              </a:rPr>
              <a:t>Limitations</a:t>
            </a:r>
            <a:endParaRPr lang="en-US" sz="1800" dirty="0"/>
          </a:p>
        </p:txBody>
      </p:sp>
      <p:sp>
        <p:nvSpPr>
          <p:cNvPr id="13" name="Text 8"/>
          <p:cNvSpPr txBox="1"/>
          <p:nvPr/>
        </p:nvSpPr>
        <p:spPr>
          <a:xfrm>
            <a:off x="6483096" y="2240280"/>
            <a:ext cx="4882896" cy="256032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1"/>
                </a:solidFill>
              </a:rPr>
              <a:t>Limitation 1 – SVM / NB / XGBoost not yet integrated</a:t>
            </a:r>
            <a:endParaRPr lang="en-US" sz="1600" dirty="0"/>
          </a:p>
          <a:p>
            <a:pPr marL="342900" indent="-342900">
              <a:spcAft>
                <a:spcPts val="1400"/>
              </a:spcAft>
              <a:buSzPct val="100000"/>
              <a:buChar char="•"/>
            </a:pPr>
            <a:r>
              <a:rPr lang="en-US" sz="1600" dirty="0">
                <a:solidFill>
                  <a:schemeClr val="tx1"/>
                </a:solidFill>
              </a:rPr>
              <a:t>Limitation 2 – No word embeddings yet</a:t>
            </a:r>
            <a:endParaRPr lang="en-US" sz="1600" dirty="0"/>
          </a:p>
          <a:p>
            <a:pPr marL="342900" indent="-342900">
              <a:spcAft>
                <a:spcPts val="1400"/>
              </a:spcAft>
              <a:buSzPct val="100000"/>
              <a:buChar char="•"/>
            </a:pPr>
            <a:r>
              <a:rPr lang="en-US" sz="1600" dirty="0">
                <a:solidFill>
                  <a:schemeClr val="tx1"/>
                </a:solidFill>
              </a:rPr>
              <a:t>Limitation 3 – Scanned (image) PDFs unsupported</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Conclusion</a:t>
            </a:r>
            <a:endParaRPr lang="en-US" sz="3200" dirty="0"/>
          </a:p>
        </p:txBody>
      </p:sp>
      <p:sp>
        <p:nvSpPr>
          <p:cNvPr id="4" name="Card"/>
          <p:cNvSpPr/>
          <p:nvPr/>
        </p:nvSpPr>
        <p:spPr>
          <a:xfrm>
            <a:off x="548640" y="1371600"/>
            <a:ext cx="6766560" cy="1417320"/>
          </a:xfrm>
          <a:prstGeom prst="roundRect">
            <a:avLst>
              <a:gd name="adj" fmla="val 7742"/>
            </a:avLst>
          </a:prstGeom>
          <a:solidFill>
            <a:schemeClr val="bg2"/>
          </a:solidFill>
          <a:ln/>
        </p:spPr>
        <p:txBody>
          <a:bodyPr/>
          <a:lstStyle/>
          <a:p>
            <a:endParaRPr lang="en-IN"/>
          </a:p>
        </p:txBody>
      </p:sp>
      <p:sp>
        <p:nvSpPr>
          <p:cNvPr id="5" name="Number badge"/>
          <p:cNvSpPr/>
          <p:nvPr/>
        </p:nvSpPr>
        <p:spPr>
          <a:xfrm>
            <a:off x="822960" y="1828800"/>
            <a:ext cx="502920" cy="50292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3"/>
          <p:cNvSpPr txBox="1"/>
          <p:nvPr/>
        </p:nvSpPr>
        <p:spPr>
          <a:xfrm>
            <a:off x="1600200" y="1508760"/>
            <a:ext cx="5486400" cy="1143000"/>
          </a:xfrm>
          <a:prstGeom prst="rect">
            <a:avLst/>
          </a:prstGeom>
          <a:noFill/>
          <a:ln/>
        </p:spPr>
        <p:txBody>
          <a:bodyPr wrap="square" lIns="0" tIns="0" rIns="0" bIns="0" rtlCol="0" anchor="ctr"/>
          <a:lstStyle/>
          <a:p>
            <a:pPr marL="0" indent="0">
              <a:buNone/>
            </a:pPr>
            <a:r>
              <a:rPr lang="en-US" sz="1600" dirty="0">
                <a:solidFill>
                  <a:schemeClr val="tx1"/>
                </a:solidFill>
              </a:rPr>
              <a:t>A Flask web app with login, sign-up, ranked dashboard and Gmail alerts, built on TF-IDF + cosine similarity.</a:t>
            </a:r>
            <a:endParaRPr lang="en-US" sz="1600" dirty="0"/>
          </a:p>
        </p:txBody>
      </p:sp>
      <p:sp>
        <p:nvSpPr>
          <p:cNvPr id="7" name="Card"/>
          <p:cNvSpPr/>
          <p:nvPr/>
        </p:nvSpPr>
        <p:spPr>
          <a:xfrm>
            <a:off x="548640" y="2971800"/>
            <a:ext cx="6766560" cy="1417320"/>
          </a:xfrm>
          <a:prstGeom prst="roundRect">
            <a:avLst>
              <a:gd name="adj" fmla="val 7742"/>
            </a:avLst>
          </a:prstGeom>
          <a:solidFill>
            <a:schemeClr val="bg2"/>
          </a:solidFill>
          <a:ln/>
        </p:spPr>
        <p:txBody>
          <a:bodyPr/>
          <a:lstStyle/>
          <a:p>
            <a:endParaRPr lang="en-IN"/>
          </a:p>
        </p:txBody>
      </p:sp>
      <p:sp>
        <p:nvSpPr>
          <p:cNvPr id="8" name="Number badge"/>
          <p:cNvSpPr/>
          <p:nvPr/>
        </p:nvSpPr>
        <p:spPr>
          <a:xfrm>
            <a:off x="822960" y="3429000"/>
            <a:ext cx="502920" cy="50292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9" name="Text 6"/>
          <p:cNvSpPr txBox="1"/>
          <p:nvPr/>
        </p:nvSpPr>
        <p:spPr>
          <a:xfrm>
            <a:off x="1600200" y="3108960"/>
            <a:ext cx="5486400" cy="1143000"/>
          </a:xfrm>
          <a:prstGeom prst="rect">
            <a:avLst/>
          </a:prstGeom>
          <a:noFill/>
          <a:ln/>
        </p:spPr>
        <p:txBody>
          <a:bodyPr wrap="square" lIns="0" tIns="0" rIns="0" bIns="0" rtlCol="0" anchor="ctr"/>
          <a:lstStyle/>
          <a:p>
            <a:pPr marL="0" indent="0">
              <a:buNone/>
            </a:pPr>
            <a:r>
              <a:rPr lang="en-US" sz="1600" dirty="0">
                <a:solidFill>
                  <a:schemeClr val="tx1"/>
                </a:solidFill>
              </a:rPr>
              <a:t>Explainable scores (e.g. 76.4 % vs 0 %) with no paid API; classifier benchmarks still to be run.</a:t>
            </a:r>
            <a:endParaRPr lang="en-US" sz="1600" dirty="0"/>
          </a:p>
        </p:txBody>
      </p:sp>
      <p:sp>
        <p:nvSpPr>
          <p:cNvPr id="10" name="Card"/>
          <p:cNvSpPr/>
          <p:nvPr/>
        </p:nvSpPr>
        <p:spPr>
          <a:xfrm>
            <a:off x="548640" y="4572000"/>
            <a:ext cx="6766560" cy="1417320"/>
          </a:xfrm>
          <a:prstGeom prst="roundRect">
            <a:avLst>
              <a:gd name="adj" fmla="val 7742"/>
            </a:avLst>
          </a:prstGeom>
          <a:solidFill>
            <a:schemeClr val="bg2"/>
          </a:solidFill>
          <a:ln/>
        </p:spPr>
        <p:txBody>
          <a:bodyPr/>
          <a:lstStyle/>
          <a:p>
            <a:endParaRPr lang="en-IN"/>
          </a:p>
        </p:txBody>
      </p:sp>
      <p:sp>
        <p:nvSpPr>
          <p:cNvPr id="11" name="Number badge"/>
          <p:cNvSpPr/>
          <p:nvPr/>
        </p:nvSpPr>
        <p:spPr>
          <a:xfrm>
            <a:off x="822960" y="5029200"/>
            <a:ext cx="502920" cy="50292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2" name="Text 9"/>
          <p:cNvSpPr txBox="1"/>
          <p:nvPr/>
        </p:nvSpPr>
        <p:spPr>
          <a:xfrm>
            <a:off x="1600200" y="4709160"/>
            <a:ext cx="5486400" cy="1143000"/>
          </a:xfrm>
          <a:prstGeom prst="rect">
            <a:avLst/>
          </a:prstGeom>
          <a:noFill/>
          <a:ln/>
        </p:spPr>
        <p:txBody>
          <a:bodyPr wrap="square" lIns="0" tIns="0" rIns="0" bIns="0" rtlCol="0" anchor="ctr"/>
          <a:lstStyle/>
          <a:p>
            <a:pPr marL="0" indent="0">
              <a:buNone/>
            </a:pPr>
            <a:r>
              <a:rPr lang="en-US" sz="1600" dirty="0">
                <a:solidFill>
                  <a:schemeClr val="tx1"/>
                </a:solidFill>
              </a:rPr>
              <a:t>Meets the core screening objectives and adds secure, repeatable recruiter workflow.</a:t>
            </a:r>
            <a:endParaRPr lang="en-US" sz="1600" dirty="0"/>
          </a:p>
        </p:txBody>
      </p:sp>
      <p:sp>
        <p:nvSpPr>
          <p:cNvPr id="13" name="Card"/>
          <p:cNvSpPr/>
          <p:nvPr/>
        </p:nvSpPr>
        <p:spPr>
          <a:xfrm>
            <a:off x="7589520" y="1371600"/>
            <a:ext cx="4050792" cy="4617720"/>
          </a:xfrm>
          <a:prstGeom prst="roundRect">
            <a:avLst>
              <a:gd name="adj" fmla="val 2709"/>
            </a:avLst>
          </a:prstGeom>
          <a:solidFill>
            <a:schemeClr val="accent1"/>
          </a:solidFill>
          <a:ln/>
        </p:spPr>
        <p:txBody>
          <a:bodyPr/>
          <a:lstStyle/>
          <a:p>
            <a:endParaRPr lang="en-IN"/>
          </a:p>
        </p:txBody>
      </p:sp>
      <p:sp>
        <p:nvSpPr>
          <p:cNvPr id="14" name="Icon badge"/>
          <p:cNvSpPr/>
          <p:nvPr/>
        </p:nvSpPr>
        <p:spPr>
          <a:xfrm>
            <a:off x="7909560" y="1691640"/>
            <a:ext cx="640080" cy="640080"/>
          </a:xfrm>
          <a:prstGeom prst="ellipse">
            <a:avLst/>
          </a:prstGeom>
          <a:solidFill>
            <a:schemeClr val="accent2"/>
          </a:solidFill>
          <a:ln/>
        </p:spPr>
        <p:txBody>
          <a:bodyPr/>
          <a:lstStyle/>
          <a:p>
            <a:endParaRPr lang="en-IN"/>
          </a:p>
        </p:txBody>
      </p:sp>
      <p:pic>
        <p:nvPicPr>
          <p:cNvPr id="15" name="Image 0" descr="Bullseye icon"/>
          <p:cNvPicPr>
            <a:picLocks noChangeAspect="1"/>
          </p:cNvPicPr>
          <p:nvPr/>
        </p:nvPicPr>
        <p:blipFill>
          <a:blip r:embed="rId3"/>
          <a:stretch>
            <a:fillRect/>
          </a:stretch>
        </p:blipFill>
        <p:spPr>
          <a:xfrm>
            <a:off x="8050378" y="1832458"/>
            <a:ext cx="358445" cy="358445"/>
          </a:xfrm>
          <a:prstGeom prst="rect">
            <a:avLst/>
          </a:prstGeom>
        </p:spPr>
      </p:pic>
      <p:sp>
        <p:nvSpPr>
          <p:cNvPr id="16" name="Text 12"/>
          <p:cNvSpPr txBox="1"/>
          <p:nvPr/>
        </p:nvSpPr>
        <p:spPr>
          <a:xfrm>
            <a:off x="7909560" y="2560320"/>
            <a:ext cx="3474720" cy="365760"/>
          </a:xfrm>
          <a:prstGeom prst="rect">
            <a:avLst/>
          </a:prstGeom>
          <a:noFill/>
          <a:ln/>
        </p:spPr>
        <p:txBody>
          <a:bodyPr wrap="square" lIns="0" tIns="0" rIns="0" bIns="0" rtlCol="0" anchor="t"/>
          <a:lstStyle/>
          <a:p>
            <a:pPr marL="0" indent="0">
              <a:buNone/>
            </a:pPr>
            <a:r>
              <a:rPr lang="en-US" sz="2000" b="1" dirty="0">
                <a:solidFill>
                  <a:schemeClr val="bg1"/>
                </a:solidFill>
              </a:rPr>
              <a:t>Final Outcome</a:t>
            </a:r>
            <a:endParaRPr lang="en-US" sz="2000" dirty="0"/>
          </a:p>
        </p:txBody>
      </p:sp>
      <p:sp>
        <p:nvSpPr>
          <p:cNvPr id="17" name="Text 13"/>
          <p:cNvSpPr txBox="1"/>
          <p:nvPr/>
        </p:nvSpPr>
        <p:spPr>
          <a:xfrm>
            <a:off x="7909560" y="3017520"/>
            <a:ext cx="3474720" cy="914400"/>
          </a:xfrm>
          <a:prstGeom prst="rect">
            <a:avLst/>
          </a:prstGeom>
          <a:noFill/>
          <a:ln/>
        </p:spPr>
        <p:txBody>
          <a:bodyPr wrap="square" lIns="0" tIns="0" rIns="0" bIns="0" rtlCol="0" anchor="ctr"/>
          <a:lstStyle/>
          <a:p>
            <a:pPr marL="0" indent="0">
              <a:buNone/>
            </a:pPr>
            <a:r>
              <a:rPr lang="en-US" sz="5400" b="1" dirty="0">
                <a:solidFill>
                  <a:schemeClr val="bg1"/>
                </a:solidFill>
                <a:latin typeface="Cambria" pitchFamily="34" charset="0"/>
                <a:ea typeface="Cambria" pitchFamily="34" charset="-122"/>
                <a:cs typeface="Cambria" pitchFamily="34" charset="-120"/>
              </a:rPr>
              <a:t>2 of 4</a:t>
            </a:r>
            <a:endParaRPr lang="en-US" sz="5400" dirty="0"/>
          </a:p>
        </p:txBody>
      </p:sp>
      <p:sp>
        <p:nvSpPr>
          <p:cNvPr id="18" name="Text 14"/>
          <p:cNvSpPr txBox="1"/>
          <p:nvPr/>
        </p:nvSpPr>
        <p:spPr>
          <a:xfrm>
            <a:off x="7909560" y="4114800"/>
            <a:ext cx="3474720" cy="1097280"/>
          </a:xfrm>
          <a:prstGeom prst="rect">
            <a:avLst/>
          </a:prstGeom>
          <a:noFill/>
          <a:ln/>
        </p:spPr>
        <p:txBody>
          <a:bodyPr wrap="square" lIns="0" tIns="0" rIns="0" bIns="0" rtlCol="0" anchor="t"/>
          <a:lstStyle/>
          <a:p>
            <a:pPr marL="0" indent="0">
              <a:buNone/>
            </a:pPr>
            <a:r>
              <a:rPr lang="en-US" sz="1600" dirty="0">
                <a:solidFill>
                  <a:schemeClr val="bg1"/>
                </a:solidFill>
              </a:rPr>
              <a:t>Objectives fully met, 2 partial</a:t>
            </a:r>
            <a:endParaRPr lang="en-US" sz="1600" dirty="0"/>
          </a:p>
          <a:p>
            <a:pPr marL="0" indent="0">
              <a:buNone/>
            </a:pPr>
            <a:r>
              <a:rPr lang="en-US" sz="1600" dirty="0">
                <a:solidFill>
                  <a:schemeClr val="bg1"/>
                </a:solidFill>
              </a:rPr>
              <a:t>Objectives achieved: 2 fully, 2 partially</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Future Scope &amp; Applications</a:t>
            </a:r>
            <a:endParaRPr lang="en-US" sz="3200" dirty="0"/>
          </a:p>
        </p:txBody>
      </p:sp>
      <p:sp>
        <p:nvSpPr>
          <p:cNvPr id="4" name="Card"/>
          <p:cNvSpPr/>
          <p:nvPr/>
        </p:nvSpPr>
        <p:spPr>
          <a:xfrm>
            <a:off x="548640" y="1371600"/>
            <a:ext cx="6766560" cy="1051560"/>
          </a:xfrm>
          <a:prstGeom prst="roundRect">
            <a:avLst>
              <a:gd name="adj" fmla="val 10435"/>
            </a:avLst>
          </a:prstGeom>
          <a:solidFill>
            <a:schemeClr val="bg2"/>
          </a:solidFill>
          <a:ln/>
        </p:spPr>
        <p:txBody>
          <a:bodyPr/>
          <a:lstStyle/>
          <a:p>
            <a:endParaRPr lang="en-IN"/>
          </a:p>
        </p:txBody>
      </p:sp>
      <p:sp>
        <p:nvSpPr>
          <p:cNvPr id="5" name="Icon badge"/>
          <p:cNvSpPr/>
          <p:nvPr/>
        </p:nvSpPr>
        <p:spPr>
          <a:xfrm>
            <a:off x="822960" y="1645920"/>
            <a:ext cx="502920" cy="502920"/>
          </a:xfrm>
          <a:prstGeom prst="ellipse">
            <a:avLst/>
          </a:prstGeom>
          <a:solidFill>
            <a:schemeClr val="accent1"/>
          </a:solidFill>
          <a:ln/>
        </p:spPr>
        <p:txBody>
          <a:bodyPr/>
          <a:lstStyle/>
          <a:p>
            <a:endParaRPr lang="en-IN"/>
          </a:p>
        </p:txBody>
      </p:sp>
      <p:pic>
        <p:nvPicPr>
          <p:cNvPr id="6" name="Image 0" descr="ChartLine icon"/>
          <p:cNvPicPr>
            <a:picLocks noChangeAspect="1"/>
          </p:cNvPicPr>
          <p:nvPr/>
        </p:nvPicPr>
        <p:blipFill>
          <a:blip r:embed="rId3"/>
          <a:stretch>
            <a:fillRect/>
          </a:stretch>
        </p:blipFill>
        <p:spPr>
          <a:xfrm>
            <a:off x="933602" y="1756562"/>
            <a:ext cx="281635" cy="281635"/>
          </a:xfrm>
          <a:prstGeom prst="rect">
            <a:avLst/>
          </a:prstGeom>
        </p:spPr>
      </p:pic>
      <p:sp>
        <p:nvSpPr>
          <p:cNvPr id="7" name="Text 3"/>
          <p:cNvSpPr txBox="1"/>
          <p:nvPr/>
        </p:nvSpPr>
        <p:spPr>
          <a:xfrm>
            <a:off x="1600200" y="1463040"/>
            <a:ext cx="5486400" cy="868680"/>
          </a:xfrm>
          <a:prstGeom prst="rect">
            <a:avLst/>
          </a:prstGeom>
          <a:noFill/>
          <a:ln/>
        </p:spPr>
        <p:txBody>
          <a:bodyPr wrap="square" lIns="0" tIns="0" rIns="0" bIns="0" rtlCol="0" anchor="ctr"/>
          <a:lstStyle/>
          <a:p>
            <a:pPr marL="0" indent="0">
              <a:buNone/>
            </a:pPr>
            <a:r>
              <a:rPr lang="en-US" sz="1800" b="1" dirty="0">
                <a:solidFill>
                  <a:schemeClr val="tx2"/>
                </a:solidFill>
              </a:rPr>
              <a:t>Improve Performance</a:t>
            </a:r>
            <a:endParaRPr lang="en-US" sz="1400" dirty="0"/>
          </a:p>
          <a:p>
            <a:pPr marL="0" indent="0">
              <a:buNone/>
            </a:pPr>
            <a:r>
              <a:rPr lang="en-US" sz="1400" dirty="0">
                <a:solidFill>
                  <a:schemeClr val="tx1"/>
                </a:solidFill>
              </a:rPr>
              <a:t>Add SVM, Naive Bayes, XGBoost and embeddings</a:t>
            </a:r>
            <a:endParaRPr lang="en-US" sz="1400" dirty="0"/>
          </a:p>
        </p:txBody>
      </p:sp>
      <p:sp>
        <p:nvSpPr>
          <p:cNvPr id="8" name="Card"/>
          <p:cNvSpPr/>
          <p:nvPr/>
        </p:nvSpPr>
        <p:spPr>
          <a:xfrm>
            <a:off x="548640" y="2560320"/>
            <a:ext cx="6766560" cy="1051560"/>
          </a:xfrm>
          <a:prstGeom prst="roundRect">
            <a:avLst>
              <a:gd name="adj" fmla="val 10435"/>
            </a:avLst>
          </a:prstGeom>
          <a:solidFill>
            <a:schemeClr val="bg2"/>
          </a:solidFill>
          <a:ln/>
        </p:spPr>
        <p:txBody>
          <a:bodyPr/>
          <a:lstStyle/>
          <a:p>
            <a:endParaRPr lang="en-IN"/>
          </a:p>
        </p:txBody>
      </p:sp>
      <p:sp>
        <p:nvSpPr>
          <p:cNvPr id="9" name="Icon badge"/>
          <p:cNvSpPr/>
          <p:nvPr/>
        </p:nvSpPr>
        <p:spPr>
          <a:xfrm>
            <a:off x="822960" y="2834640"/>
            <a:ext cx="502920" cy="502920"/>
          </a:xfrm>
          <a:prstGeom prst="ellipse">
            <a:avLst/>
          </a:prstGeom>
          <a:solidFill>
            <a:schemeClr val="accent1"/>
          </a:solidFill>
          <a:ln/>
        </p:spPr>
        <p:txBody>
          <a:bodyPr/>
          <a:lstStyle/>
          <a:p>
            <a:endParaRPr lang="en-IN"/>
          </a:p>
        </p:txBody>
      </p:sp>
      <p:pic>
        <p:nvPicPr>
          <p:cNvPr id="10" name="Image 1" descr="Database icon"/>
          <p:cNvPicPr>
            <a:picLocks noChangeAspect="1"/>
          </p:cNvPicPr>
          <p:nvPr/>
        </p:nvPicPr>
        <p:blipFill>
          <a:blip r:embed="rId4"/>
          <a:stretch>
            <a:fillRect/>
          </a:stretch>
        </p:blipFill>
        <p:spPr>
          <a:xfrm>
            <a:off x="933602" y="2945282"/>
            <a:ext cx="281635" cy="281635"/>
          </a:xfrm>
          <a:prstGeom prst="rect">
            <a:avLst/>
          </a:prstGeom>
        </p:spPr>
      </p:pic>
      <p:sp>
        <p:nvSpPr>
          <p:cNvPr id="11" name="Text 6"/>
          <p:cNvSpPr txBox="1"/>
          <p:nvPr/>
        </p:nvSpPr>
        <p:spPr>
          <a:xfrm>
            <a:off x="1600200" y="2651760"/>
            <a:ext cx="5486400" cy="868680"/>
          </a:xfrm>
          <a:prstGeom prst="rect">
            <a:avLst/>
          </a:prstGeom>
          <a:noFill/>
          <a:ln/>
        </p:spPr>
        <p:txBody>
          <a:bodyPr wrap="square" lIns="0" tIns="0" rIns="0" bIns="0" rtlCol="0" anchor="ctr"/>
          <a:lstStyle/>
          <a:p>
            <a:pPr marL="0" indent="0">
              <a:buNone/>
            </a:pPr>
            <a:r>
              <a:rPr lang="en-US" sz="1800" b="1" dirty="0">
                <a:solidFill>
                  <a:schemeClr val="tx2"/>
                </a:solidFill>
              </a:rPr>
              <a:t>Expand Data / Features</a:t>
            </a:r>
            <a:endParaRPr lang="en-US" sz="1400" dirty="0"/>
          </a:p>
          <a:p>
            <a:pPr marL="0" indent="0">
              <a:buNone/>
            </a:pPr>
            <a:r>
              <a:rPr lang="en-US" sz="1400" dirty="0">
                <a:solidFill>
                  <a:schemeClr val="tx1"/>
                </a:solidFill>
              </a:rPr>
              <a:t>More resumes, skills, OCR and languages</a:t>
            </a:r>
            <a:endParaRPr lang="en-US" sz="1400" dirty="0"/>
          </a:p>
        </p:txBody>
      </p:sp>
      <p:sp>
        <p:nvSpPr>
          <p:cNvPr id="12" name="Card"/>
          <p:cNvSpPr/>
          <p:nvPr/>
        </p:nvSpPr>
        <p:spPr>
          <a:xfrm>
            <a:off x="548640" y="3749040"/>
            <a:ext cx="6766560" cy="1051560"/>
          </a:xfrm>
          <a:prstGeom prst="roundRect">
            <a:avLst>
              <a:gd name="adj" fmla="val 10435"/>
            </a:avLst>
          </a:prstGeom>
          <a:solidFill>
            <a:schemeClr val="bg2"/>
          </a:solidFill>
          <a:ln/>
        </p:spPr>
        <p:txBody>
          <a:bodyPr/>
          <a:lstStyle/>
          <a:p>
            <a:endParaRPr lang="en-IN"/>
          </a:p>
        </p:txBody>
      </p:sp>
      <p:sp>
        <p:nvSpPr>
          <p:cNvPr id="13" name="Icon badge"/>
          <p:cNvSpPr/>
          <p:nvPr/>
        </p:nvSpPr>
        <p:spPr>
          <a:xfrm>
            <a:off x="822960" y="4023360"/>
            <a:ext cx="502920" cy="502920"/>
          </a:xfrm>
          <a:prstGeom prst="ellipse">
            <a:avLst/>
          </a:prstGeom>
          <a:solidFill>
            <a:schemeClr val="accent1"/>
          </a:solidFill>
          <a:ln/>
        </p:spPr>
        <p:txBody>
          <a:bodyPr/>
          <a:lstStyle/>
          <a:p>
            <a:endParaRPr lang="en-IN"/>
          </a:p>
        </p:txBody>
      </p:sp>
      <p:pic>
        <p:nvPicPr>
          <p:cNvPr id="14" name="Image 2" descr="Desktop icon"/>
          <p:cNvPicPr>
            <a:picLocks noChangeAspect="1"/>
          </p:cNvPicPr>
          <p:nvPr/>
        </p:nvPicPr>
        <p:blipFill>
          <a:blip r:embed="rId5"/>
          <a:stretch>
            <a:fillRect/>
          </a:stretch>
        </p:blipFill>
        <p:spPr>
          <a:xfrm>
            <a:off x="933602" y="4134002"/>
            <a:ext cx="281635" cy="281635"/>
          </a:xfrm>
          <a:prstGeom prst="rect">
            <a:avLst/>
          </a:prstGeom>
        </p:spPr>
      </p:pic>
      <p:sp>
        <p:nvSpPr>
          <p:cNvPr id="15" name="Text 9"/>
          <p:cNvSpPr txBox="1"/>
          <p:nvPr/>
        </p:nvSpPr>
        <p:spPr>
          <a:xfrm>
            <a:off x="1600200" y="3840480"/>
            <a:ext cx="5486400" cy="868680"/>
          </a:xfrm>
          <a:prstGeom prst="rect">
            <a:avLst/>
          </a:prstGeom>
          <a:noFill/>
          <a:ln/>
        </p:spPr>
        <p:txBody>
          <a:bodyPr wrap="square" lIns="0" tIns="0" rIns="0" bIns="0" rtlCol="0" anchor="ctr"/>
          <a:lstStyle/>
          <a:p>
            <a:pPr marL="0" indent="0">
              <a:buNone/>
            </a:pPr>
            <a:r>
              <a:rPr lang="en-US" sz="1800" b="1" dirty="0">
                <a:solidFill>
                  <a:schemeClr val="tx2"/>
                </a:solidFill>
              </a:rPr>
              <a:t>Deploy &amp; Build an Interface</a:t>
            </a:r>
            <a:endParaRPr lang="en-US" sz="1400" dirty="0"/>
          </a:p>
          <a:p>
            <a:pPr marL="0" indent="0">
              <a:buNone/>
            </a:pPr>
            <a:r>
              <a:rPr lang="en-US" sz="1400" dirty="0">
                <a:solidFill>
                  <a:schemeClr val="tx1"/>
                </a:solidFill>
              </a:rPr>
              <a:t>Reset password by email, REST API</a:t>
            </a:r>
            <a:endParaRPr lang="en-US" sz="1400" dirty="0"/>
          </a:p>
        </p:txBody>
      </p:sp>
      <p:sp>
        <p:nvSpPr>
          <p:cNvPr id="16" name="Card"/>
          <p:cNvSpPr/>
          <p:nvPr/>
        </p:nvSpPr>
        <p:spPr>
          <a:xfrm>
            <a:off x="548640" y="4937760"/>
            <a:ext cx="6766560" cy="1051560"/>
          </a:xfrm>
          <a:prstGeom prst="roundRect">
            <a:avLst>
              <a:gd name="adj" fmla="val 10435"/>
            </a:avLst>
          </a:prstGeom>
          <a:solidFill>
            <a:schemeClr val="bg2"/>
          </a:solidFill>
          <a:ln/>
        </p:spPr>
        <p:txBody>
          <a:bodyPr/>
          <a:lstStyle/>
          <a:p>
            <a:endParaRPr lang="en-IN"/>
          </a:p>
        </p:txBody>
      </p:sp>
      <p:sp>
        <p:nvSpPr>
          <p:cNvPr id="17" name="Icon badge"/>
          <p:cNvSpPr/>
          <p:nvPr/>
        </p:nvSpPr>
        <p:spPr>
          <a:xfrm>
            <a:off x="822960" y="5212080"/>
            <a:ext cx="502920" cy="502920"/>
          </a:xfrm>
          <a:prstGeom prst="ellipse">
            <a:avLst/>
          </a:prstGeom>
          <a:solidFill>
            <a:schemeClr val="accent1"/>
          </a:solidFill>
          <a:ln/>
        </p:spPr>
        <p:txBody>
          <a:bodyPr/>
          <a:lstStyle/>
          <a:p>
            <a:endParaRPr lang="en-IN"/>
          </a:p>
        </p:txBody>
      </p:sp>
      <p:pic>
        <p:nvPicPr>
          <p:cNvPr id="18" name="Image 3" descr="ShieldAlt icon"/>
          <p:cNvPicPr>
            <a:picLocks noChangeAspect="1"/>
          </p:cNvPicPr>
          <p:nvPr/>
        </p:nvPicPr>
        <p:blipFill>
          <a:blip r:embed="rId6"/>
          <a:stretch>
            <a:fillRect/>
          </a:stretch>
        </p:blipFill>
        <p:spPr>
          <a:xfrm>
            <a:off x="933602" y="5322722"/>
            <a:ext cx="281635" cy="281635"/>
          </a:xfrm>
          <a:prstGeom prst="rect">
            <a:avLst/>
          </a:prstGeom>
        </p:spPr>
      </p:pic>
      <p:sp>
        <p:nvSpPr>
          <p:cNvPr id="19" name="Text 12"/>
          <p:cNvSpPr txBox="1"/>
          <p:nvPr/>
        </p:nvSpPr>
        <p:spPr>
          <a:xfrm>
            <a:off x="1600200" y="5029200"/>
            <a:ext cx="5486400" cy="868680"/>
          </a:xfrm>
          <a:prstGeom prst="rect">
            <a:avLst/>
          </a:prstGeom>
          <a:noFill/>
          <a:ln/>
        </p:spPr>
        <p:txBody>
          <a:bodyPr wrap="square" lIns="0" tIns="0" rIns="0" bIns="0" rtlCol="0" anchor="ctr"/>
          <a:lstStyle/>
          <a:p>
            <a:pPr marL="0" indent="0">
              <a:buNone/>
            </a:pPr>
            <a:r>
              <a:rPr lang="en-US" sz="1800" b="1" dirty="0">
                <a:solidFill>
                  <a:schemeClr val="tx2"/>
                </a:solidFill>
              </a:rPr>
              <a:t>Scale &amp; Secure</a:t>
            </a:r>
            <a:endParaRPr lang="en-US" sz="1400" dirty="0"/>
          </a:p>
          <a:p>
            <a:pPr marL="0" indent="0">
              <a:buNone/>
            </a:pPr>
            <a:r>
              <a:rPr lang="en-US" sz="1400" dirty="0">
                <a:solidFill>
                  <a:schemeClr val="tx1"/>
                </a:solidFill>
              </a:rPr>
              <a:t>Deploy on cloud with HTTPS and privacy controls</a:t>
            </a:r>
            <a:endParaRPr lang="en-US" sz="1400" dirty="0"/>
          </a:p>
        </p:txBody>
      </p:sp>
      <p:sp>
        <p:nvSpPr>
          <p:cNvPr id="20" name="Card"/>
          <p:cNvSpPr/>
          <p:nvPr/>
        </p:nvSpPr>
        <p:spPr>
          <a:xfrm>
            <a:off x="7589520" y="1371600"/>
            <a:ext cx="4050792" cy="4617720"/>
          </a:xfrm>
          <a:prstGeom prst="roundRect">
            <a:avLst>
              <a:gd name="adj" fmla="val 2709"/>
            </a:avLst>
          </a:prstGeom>
          <a:solidFill>
            <a:schemeClr val="bg2"/>
          </a:solidFill>
          <a:ln/>
        </p:spPr>
        <p:txBody>
          <a:bodyPr/>
          <a:lstStyle/>
          <a:p>
            <a:endParaRPr lang="en-IN"/>
          </a:p>
        </p:txBody>
      </p:sp>
      <p:sp>
        <p:nvSpPr>
          <p:cNvPr id="21" name="Icon badge"/>
          <p:cNvSpPr/>
          <p:nvPr/>
        </p:nvSpPr>
        <p:spPr>
          <a:xfrm>
            <a:off x="7863840" y="1554480"/>
            <a:ext cx="502920" cy="502920"/>
          </a:xfrm>
          <a:prstGeom prst="ellipse">
            <a:avLst/>
          </a:prstGeom>
          <a:solidFill>
            <a:schemeClr val="accent1"/>
          </a:solidFill>
          <a:ln/>
        </p:spPr>
        <p:txBody>
          <a:bodyPr/>
          <a:lstStyle/>
          <a:p>
            <a:endParaRPr lang="en-IN"/>
          </a:p>
        </p:txBody>
      </p:sp>
      <p:pic>
        <p:nvPicPr>
          <p:cNvPr id="22" name="Image 4" descr="Globe icon"/>
          <p:cNvPicPr>
            <a:picLocks noChangeAspect="1"/>
          </p:cNvPicPr>
          <p:nvPr/>
        </p:nvPicPr>
        <p:blipFill>
          <a:blip r:embed="rId7"/>
          <a:stretch>
            <a:fillRect/>
          </a:stretch>
        </p:blipFill>
        <p:spPr>
          <a:xfrm>
            <a:off x="7974482" y="1665122"/>
            <a:ext cx="281635" cy="281635"/>
          </a:xfrm>
          <a:prstGeom prst="rect">
            <a:avLst/>
          </a:prstGeom>
        </p:spPr>
      </p:pic>
      <p:sp>
        <p:nvSpPr>
          <p:cNvPr id="23" name="Text 15"/>
          <p:cNvSpPr txBox="1"/>
          <p:nvPr/>
        </p:nvSpPr>
        <p:spPr>
          <a:xfrm>
            <a:off x="8549640" y="1554480"/>
            <a:ext cx="2862072" cy="502920"/>
          </a:xfrm>
          <a:prstGeom prst="rect">
            <a:avLst/>
          </a:prstGeom>
          <a:noFill/>
          <a:ln/>
        </p:spPr>
        <p:txBody>
          <a:bodyPr wrap="square" lIns="0" tIns="0" rIns="0" bIns="0" rtlCol="0" anchor="ctr"/>
          <a:lstStyle/>
          <a:p>
            <a:pPr marL="0" indent="0">
              <a:buNone/>
            </a:pPr>
            <a:r>
              <a:rPr lang="en-US" sz="1800" b="1" dirty="0">
                <a:solidFill>
                  <a:schemeClr val="tx2"/>
                </a:solidFill>
              </a:rPr>
              <a:t>Applications</a:t>
            </a:r>
            <a:endParaRPr lang="en-US" sz="1800" dirty="0"/>
          </a:p>
        </p:txBody>
      </p:sp>
      <p:sp>
        <p:nvSpPr>
          <p:cNvPr id="24" name="Text 16"/>
          <p:cNvSpPr txBox="1"/>
          <p:nvPr/>
        </p:nvSpPr>
        <p:spPr>
          <a:xfrm>
            <a:off x="7863840" y="2240280"/>
            <a:ext cx="3502152" cy="361188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Campus placement cells</a:t>
            </a:r>
            <a:endParaRPr lang="en-US" sz="1600" dirty="0"/>
          </a:p>
          <a:p>
            <a:pPr marL="342900" indent="-342900">
              <a:spcAft>
                <a:spcPts val="1200"/>
              </a:spcAft>
              <a:buSzPct val="100000"/>
              <a:buChar char="•"/>
            </a:pPr>
            <a:r>
              <a:rPr lang="en-US" sz="1600" dirty="0">
                <a:solidFill>
                  <a:schemeClr val="tx1"/>
                </a:solidFill>
              </a:rPr>
              <a:t>HR teams and startups</a:t>
            </a:r>
            <a:endParaRPr lang="en-US" sz="1600" dirty="0"/>
          </a:p>
          <a:p>
            <a:pPr marL="342900" indent="-342900">
              <a:spcAft>
                <a:spcPts val="1200"/>
              </a:spcAft>
              <a:buSzPct val="100000"/>
              <a:buChar char="•"/>
            </a:pPr>
            <a:r>
              <a:rPr lang="en-US" sz="1600" dirty="0">
                <a:solidFill>
                  <a:schemeClr val="tx1"/>
                </a:solidFill>
              </a:rPr>
              <a:t>Recruitment agencies</a:t>
            </a:r>
            <a:endParaRPr lang="en-US" sz="1600" dirty="0"/>
          </a:p>
          <a:p>
            <a:pPr marL="342900" indent="-342900">
              <a:spcAft>
                <a:spcPts val="1200"/>
              </a:spcAft>
              <a:buSzPct val="100000"/>
              <a:buChar char="•"/>
            </a:pPr>
            <a:r>
              <a:rPr lang="en-US" sz="1600" dirty="0">
                <a:solidFill>
                  <a:schemeClr val="tx1"/>
                </a:solidFill>
              </a:rPr>
              <a:t>Anyone screening bulk applications</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Team Contribution</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280678673"/>
              </p:ext>
            </p:extLst>
          </p:nvPr>
        </p:nvGraphicFramePr>
        <p:xfrm>
          <a:off x="698269" y="2015837"/>
          <a:ext cx="11091672" cy="2468880"/>
        </p:xfrm>
        <a:graphic>
          <a:graphicData uri="http://schemas.openxmlformats.org/drawingml/2006/table">
            <a:tbl>
              <a:tblPr/>
              <a:tblGrid>
                <a:gridCol w="22860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5788152">
                  <a:extLst>
                    <a:ext uri="{9D8B030D-6E8A-4147-A177-3AD203B41FA5}">
                      <a16:colId xmlns:a16="http://schemas.microsoft.com/office/drawing/2014/main" val="20002"/>
                    </a:ext>
                  </a:extLst>
                </a:gridCol>
              </a:tblGrid>
              <a:tr h="457200">
                <a:tc>
                  <a:txBody>
                    <a:bodyPr/>
                    <a:lstStyle/>
                    <a:p>
                      <a:pPr marL="0" indent="0">
                        <a:buNone/>
                      </a:pPr>
                      <a:r>
                        <a:rPr lang="en-US" sz="1400" b="1" dirty="0">
                          <a:solidFill>
                            <a:srgbClr val="FFFFFF"/>
                          </a:solidFill>
                        </a:rPr>
                        <a:t>Reg. No.</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rPr>
                        <a:t>Name</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buNone/>
                      </a:pPr>
                      <a:r>
                        <a:rPr lang="en-US" sz="1400" b="1" dirty="0">
                          <a:solidFill>
                            <a:srgbClr val="FFFFFF"/>
                          </a:solidFill>
                        </a:rPr>
                        <a:t>Contribution / Modules Handled</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502920">
                <a:tc>
                  <a:txBody>
                    <a:bodyPr/>
                    <a:lstStyle/>
                    <a:p>
                      <a:pPr marL="0" indent="0">
                        <a:buNone/>
                      </a:pPr>
                      <a:r>
                        <a:rPr lang="en-US" sz="1400" dirty="0">
                          <a:solidFill>
                            <a:srgbClr val="1B1F2A"/>
                          </a:solidFill>
                        </a:rPr>
                        <a:t>2420030008</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Sai Teja Bandari</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Resume parser, auth &amp; database, testing</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400" dirty="0">
                          <a:solidFill>
                            <a:srgbClr val="1B1F2A"/>
                          </a:solidFill>
                        </a:rPr>
                        <a:t>2420030545</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Mani Charan Chava</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00" dirty="0">
                          <a:solidFill>
                            <a:srgbClr val="1B1F2A"/>
                          </a:solidFill>
                        </a:rPr>
                        <a:t>Ranking engine, dashboard, Gmail notifier, report</a:t>
                      </a:r>
                      <a:endParaRPr lang="en-US" sz="1400" dirty="0"/>
                    </a:p>
                  </a:txBody>
                  <a:tcPr marT="0" marB="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200" b="1" dirty="0">
                <a:solidFill>
                  <a:schemeClr val="tx2"/>
                </a:solidFill>
              </a:rPr>
              <a:t>References</a:t>
            </a:r>
            <a:endParaRPr lang="en-US" sz="3200" dirty="0"/>
          </a:p>
        </p:txBody>
      </p:sp>
      <p:sp>
        <p:nvSpPr>
          <p:cNvPr id="4" name="Text 1"/>
          <p:cNvSpPr txBox="1"/>
          <p:nvPr/>
        </p:nvSpPr>
        <p:spPr>
          <a:xfrm>
            <a:off x="548640" y="1371600"/>
            <a:ext cx="6949440" cy="4663440"/>
          </a:xfrm>
          <a:prstGeom prst="rect">
            <a:avLst/>
          </a:prstGeom>
          <a:noFill/>
          <a:ln/>
        </p:spPr>
        <p:txBody>
          <a:bodyPr wrap="square" lIns="0" tIns="0" rIns="0" bIns="0" rtlCol="0" anchor="t"/>
          <a:lstStyle/>
          <a:p>
            <a:pPr marL="0" indent="0">
              <a:spcAft>
                <a:spcPts val="1200"/>
              </a:spcAft>
              <a:buNone/>
            </a:pPr>
            <a:r>
              <a:rPr lang="en-US" sz="1600" dirty="0">
                <a:solidFill>
                  <a:schemeClr val="tx1"/>
                </a:solidFill>
              </a:rPr>
              <a:t>[1] “AI-Powered Resume Screening Using NLP and Machine Learning,” IEEE, 2025.</a:t>
            </a:r>
            <a:endParaRPr lang="en-US" sz="1600" dirty="0"/>
          </a:p>
          <a:p>
            <a:pPr marL="0" indent="0">
              <a:spcAft>
                <a:spcPts val="1200"/>
              </a:spcAft>
              <a:buNone/>
            </a:pPr>
            <a:r>
              <a:rPr lang="en-US" sz="1600" dirty="0">
                <a:solidFill>
                  <a:schemeClr val="tx1"/>
                </a:solidFill>
              </a:rPr>
              <a:t>[2] “ReSage AI: AI-Enhanced Resume Screening,” IEEE, 2025.</a:t>
            </a:r>
            <a:endParaRPr lang="en-US" sz="1600" dirty="0"/>
          </a:p>
          <a:p>
            <a:pPr marL="0" indent="0">
              <a:spcAft>
                <a:spcPts val="1200"/>
              </a:spcAft>
              <a:buNone/>
            </a:pPr>
            <a:r>
              <a:rPr lang="en-US" sz="1600" dirty="0">
                <a:solidFill>
                  <a:schemeClr val="tx1"/>
                </a:solidFill>
              </a:rPr>
              <a:t>[3] “Machine Learning-based Resume Screening and Ranking,” IEEE, 2024.</a:t>
            </a:r>
            <a:endParaRPr lang="en-US" sz="1600" dirty="0"/>
          </a:p>
          <a:p>
            <a:pPr marL="0" indent="0">
              <a:spcAft>
                <a:spcPts val="1200"/>
              </a:spcAft>
              <a:buNone/>
            </a:pPr>
            <a:r>
              <a:rPr lang="en-US" sz="1600" dirty="0">
                <a:solidFill>
                  <a:schemeClr val="tx1"/>
                </a:solidFill>
              </a:rPr>
              <a:t>[4] “Resume Screening using Machine Learning,” IEEE, 2024.</a:t>
            </a:r>
            <a:endParaRPr lang="en-US" sz="1600" dirty="0"/>
          </a:p>
          <a:p>
            <a:pPr marL="0" indent="0">
              <a:spcAft>
                <a:spcPts val="1200"/>
              </a:spcAft>
              <a:buNone/>
            </a:pPr>
            <a:r>
              <a:rPr lang="en-US" sz="1600" dirty="0">
                <a:solidFill>
                  <a:schemeClr val="tx1"/>
                </a:solidFill>
              </a:rPr>
              <a:t>[5] F. Pedregosa et al., “Scikit-learn: Machine Learning in Python,” J. Mach. Learn. Res., vol. 12, 2011.</a:t>
            </a:r>
            <a:endParaRPr lang="en-US" sz="1600" dirty="0"/>
          </a:p>
        </p:txBody>
      </p:sp>
      <p:sp>
        <p:nvSpPr>
          <p:cNvPr id="5" name="Card"/>
          <p:cNvSpPr/>
          <p:nvPr/>
        </p:nvSpPr>
        <p:spPr>
          <a:xfrm>
            <a:off x="7772400" y="1371600"/>
            <a:ext cx="3867912" cy="4663440"/>
          </a:xfrm>
          <a:prstGeom prst="roundRect">
            <a:avLst>
              <a:gd name="adj" fmla="val 2837"/>
            </a:avLst>
          </a:prstGeom>
          <a:solidFill>
            <a:schemeClr val="bg2"/>
          </a:solidFill>
          <a:ln/>
        </p:spPr>
        <p:txBody>
          <a:bodyPr/>
          <a:lstStyle/>
          <a:p>
            <a:endParaRPr lang="en-IN"/>
          </a:p>
        </p:txBody>
      </p:sp>
      <p:sp>
        <p:nvSpPr>
          <p:cNvPr id="6" name="Icon badge"/>
          <p:cNvSpPr/>
          <p:nvPr/>
        </p:nvSpPr>
        <p:spPr>
          <a:xfrm>
            <a:off x="8046720" y="1554480"/>
            <a:ext cx="502920" cy="502920"/>
          </a:xfrm>
          <a:prstGeom prst="ellipse">
            <a:avLst/>
          </a:prstGeom>
          <a:solidFill>
            <a:schemeClr val="accent1"/>
          </a:solidFill>
          <a:ln/>
        </p:spPr>
        <p:txBody>
          <a:bodyPr/>
          <a:lstStyle/>
          <a:p>
            <a:endParaRPr lang="en-IN"/>
          </a:p>
        </p:txBody>
      </p:sp>
      <p:pic>
        <p:nvPicPr>
          <p:cNvPr id="7" name="Image 0" descr="Link icon"/>
          <p:cNvPicPr>
            <a:picLocks noChangeAspect="1"/>
          </p:cNvPicPr>
          <p:nvPr/>
        </p:nvPicPr>
        <p:blipFill>
          <a:blip r:embed="rId3"/>
          <a:stretch>
            <a:fillRect/>
          </a:stretch>
        </p:blipFill>
        <p:spPr>
          <a:xfrm>
            <a:off x="8157362" y="1665122"/>
            <a:ext cx="281635" cy="281635"/>
          </a:xfrm>
          <a:prstGeom prst="rect">
            <a:avLst/>
          </a:prstGeom>
        </p:spPr>
      </p:pic>
      <p:sp>
        <p:nvSpPr>
          <p:cNvPr id="8" name="Text 4"/>
          <p:cNvSpPr txBox="1"/>
          <p:nvPr/>
        </p:nvSpPr>
        <p:spPr>
          <a:xfrm>
            <a:off x="8732520" y="1554480"/>
            <a:ext cx="2743200" cy="502920"/>
          </a:xfrm>
          <a:prstGeom prst="rect">
            <a:avLst/>
          </a:prstGeom>
          <a:noFill/>
          <a:ln/>
        </p:spPr>
        <p:txBody>
          <a:bodyPr wrap="square" lIns="0" tIns="0" rIns="0" bIns="0" rtlCol="0" anchor="ctr"/>
          <a:lstStyle/>
          <a:p>
            <a:pPr marL="0" indent="0">
              <a:buNone/>
            </a:pPr>
            <a:r>
              <a:rPr lang="en-US" sz="1800" b="1" dirty="0">
                <a:solidFill>
                  <a:schemeClr val="tx2"/>
                </a:solidFill>
              </a:rPr>
              <a:t>Project Links</a:t>
            </a:r>
            <a:endParaRPr lang="en-US" sz="1800" dirty="0"/>
          </a:p>
        </p:txBody>
      </p:sp>
      <p:sp>
        <p:nvSpPr>
          <p:cNvPr id="9" name="Text 5"/>
          <p:cNvSpPr txBox="1"/>
          <p:nvPr/>
        </p:nvSpPr>
        <p:spPr>
          <a:xfrm>
            <a:off x="8046720" y="2286000"/>
            <a:ext cx="3383280" cy="1280160"/>
          </a:xfrm>
          <a:prstGeom prst="rect">
            <a:avLst/>
          </a:prstGeom>
          <a:noFill/>
          <a:ln/>
        </p:spPr>
        <p:txBody>
          <a:bodyPr wrap="square" lIns="0" tIns="0" rIns="0" bIns="0" rtlCol="0" anchor="t"/>
          <a:lstStyle/>
          <a:p>
            <a:pPr marL="0" indent="0">
              <a:buNone/>
            </a:pPr>
            <a:r>
              <a:rPr lang="en-US" sz="1400" b="1" dirty="0">
                <a:solidFill>
                  <a:schemeClr val="tx1"/>
                </a:solidFill>
              </a:rPr>
              <a:t>GitHub: </a:t>
            </a:r>
            <a:r>
              <a:rPr lang="en-US" sz="1400" dirty="0">
                <a:solidFill>
                  <a:schemeClr val="tx1"/>
                </a:solidFill>
              </a:rPr>
              <a:t>add repository URL</a:t>
            </a:r>
            <a:endParaRPr lang="en-US" sz="1400" dirty="0"/>
          </a:p>
          <a:p>
            <a:pPr marL="0" indent="0">
              <a:buNone/>
            </a:pPr>
            <a:r>
              <a:rPr lang="en-US" sz="1400" b="1" dirty="0">
                <a:solidFill>
                  <a:schemeClr val="tx1"/>
                </a:solidFill>
              </a:rPr>
              <a:t>Dataset: </a:t>
            </a:r>
            <a:r>
              <a:rPr lang="en-US" sz="1400" dirty="0">
                <a:solidFill>
                  <a:schemeClr val="tx1"/>
                </a:solidFill>
              </a:rPr>
              <a:t>Kaggle – Resume Dataset</a:t>
            </a:r>
            <a:endParaRPr lang="en-US" sz="1400" dirty="0"/>
          </a:p>
          <a:p>
            <a:pPr marL="0" indent="0">
              <a:buNone/>
            </a:pPr>
            <a:r>
              <a:rPr lang="en-US" sz="1400" b="1" dirty="0">
                <a:solidFill>
                  <a:schemeClr val="tx1"/>
                </a:solidFill>
              </a:rPr>
              <a:t>Demo video: </a:t>
            </a:r>
            <a:r>
              <a:rPr lang="en-US" sz="1400" dirty="0">
                <a:solidFill>
                  <a:schemeClr val="tx1"/>
                </a:solidFill>
              </a:rPr>
              <a:t>add link (app runs at http://127.0.0.1:5000)</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731520" y="2011680"/>
            <a:ext cx="7680960" cy="1188720"/>
          </a:xfrm>
          <a:prstGeom prst="rect">
            <a:avLst/>
          </a:prstGeom>
          <a:noFill/>
          <a:ln/>
        </p:spPr>
        <p:txBody>
          <a:bodyPr wrap="square" lIns="0" tIns="0" rIns="0" bIns="0" rtlCol="0" anchor="b"/>
          <a:lstStyle/>
          <a:p>
            <a:pPr marL="0" indent="0" algn="l">
              <a:buNone/>
            </a:pPr>
            <a:r>
              <a:rPr lang="en-US" sz="5400" b="1" dirty="0">
                <a:solidFill>
                  <a:schemeClr val="bg1"/>
                </a:solidFill>
              </a:rPr>
              <a:t>THANK YOU</a:t>
            </a:r>
            <a:endParaRPr lang="en-US" sz="5400" dirty="0"/>
          </a:p>
        </p:txBody>
      </p:sp>
      <p:sp>
        <p:nvSpPr>
          <p:cNvPr id="3" name="Text 1"/>
          <p:cNvSpPr>
            <a:spLocks noGrp="1"/>
          </p:cNvSpPr>
          <p:nvPr>
            <p:ph type="body" idx="103" hasCustomPrompt="1"/>
          </p:nvPr>
        </p:nvSpPr>
        <p:spPr>
          <a:xfrm>
            <a:off x="731520" y="3383280"/>
            <a:ext cx="7680960" cy="548640"/>
          </a:xfrm>
          <a:prstGeom prst="rect">
            <a:avLst/>
          </a:prstGeom>
          <a:noFill/>
          <a:ln/>
        </p:spPr>
        <p:txBody>
          <a:bodyPr wrap="square" lIns="0" tIns="0" rIns="0" bIns="0" rtlCol="0"/>
          <a:lstStyle/>
          <a:p>
            <a:pPr marL="0" indent="0">
              <a:buNone/>
            </a:pPr>
            <a:r>
              <a:rPr lang="en-US" sz="2400" dirty="0">
                <a:solidFill>
                  <a:schemeClr val="bg2"/>
                </a:solidFill>
              </a:rPr>
              <a:t>Questions &amp; Discussion</a:t>
            </a:r>
            <a:endParaRPr lang="en-US" sz="2400" dirty="0"/>
          </a:p>
        </p:txBody>
      </p:sp>
      <p:sp>
        <p:nvSpPr>
          <p:cNvPr id="4" name="Text 1"/>
          <p:cNvSpPr>
            <a:spLocks noGrp="1"/>
          </p:cNvSpPr>
          <p:nvPr>
            <p:ph type="body" idx="104" hasCustomPrompt="1"/>
          </p:nvPr>
        </p:nvSpPr>
        <p:spPr>
          <a:xfrm>
            <a:off x="731520" y="4297680"/>
            <a:ext cx="6949440" cy="1463040"/>
          </a:xfrm>
          <a:prstGeom prst="rect">
            <a:avLst/>
          </a:prstGeom>
          <a:noFill/>
          <a:ln/>
        </p:spPr>
        <p:txBody>
          <a:bodyPr wrap="square" lIns="0" tIns="0" rIns="0" bIns="0" rtlCol="0" anchor="t"/>
          <a:lstStyle/>
          <a:p>
            <a:pPr marL="0" indent="0">
              <a:spcAft>
                <a:spcPts val="600"/>
              </a:spcAft>
              <a:buNone/>
            </a:pPr>
            <a:r>
              <a:rPr lang="en-US" sz="1600" dirty="0">
                <a:solidFill>
                  <a:schemeClr val="bg1"/>
                </a:solidFill>
              </a:rPr>
              <a:t>Sai Teja Bandari (2420030008)  |  Mani Charan Chava (2420030545)</a:t>
            </a:r>
            <a:endParaRPr lang="en-US" sz="1600" dirty="0"/>
          </a:p>
          <a:p>
            <a:pPr marL="0" indent="0">
              <a:spcAft>
                <a:spcPts val="600"/>
              </a:spcAft>
              <a:buNone/>
            </a:pPr>
            <a:r>
              <a:rPr lang="en-US" sz="1600" dirty="0">
                <a:solidFill>
                  <a:schemeClr val="bg1"/>
                </a:solidFill>
              </a:rPr>
              <a:t>Dr. N. Sunanda, Dept. of CSE, K L (Deemed to be) University</a:t>
            </a:r>
            <a:endParaRPr lang="en-US" sz="1600" dirty="0"/>
          </a:p>
        </p:txBody>
      </p:sp>
    </p:spTree>
  </p:cSld>
  <p:clrMapOvr>
    <a:masterClrMapping/>
  </p:clrMapOvr>
</p:sld>
</file>

<file path=ppt/theme/theme1.xml><?xml version="1.0" encoding="utf-8"?>
<a:theme xmlns:a="http://schemas.openxmlformats.org/drawingml/2006/main" name="Project Review">
  <a:themeElements>
    <a:clrScheme name="Project Review">
      <a:dk1>
        <a:srgbClr val="1B1F2A"/>
      </a:dk1>
      <a:lt1>
        <a:srgbClr val="FFFFFF"/>
      </a:lt1>
      <a:dk2>
        <a:srgbClr val="0B3C5D"/>
      </a:dk2>
      <a:lt2>
        <a:srgbClr val="EEF3F7"/>
      </a:lt2>
      <a:accent1>
        <a:srgbClr val="0B7A75"/>
      </a:accent1>
      <a:accent2>
        <a:srgbClr val="E58E2A"/>
      </a:accent2>
      <a:accent3>
        <a:srgbClr val="3E7CB1"/>
      </a:accent3>
      <a:accent4>
        <a:srgbClr val="C8434F"/>
      </a:accent4>
      <a:accent5>
        <a:srgbClr val="5F6B76"/>
      </a:accent5>
      <a:accent6>
        <a:srgbClr val="7A9E9F"/>
      </a:accent6>
      <a:hlink>
        <a:srgbClr val="0B7A75"/>
      </a:hlink>
      <a:folHlink>
        <a:srgbClr val="5F6B76"/>
      </a:folHlink>
    </a:clrScheme>
    <a:fontScheme name="Project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2447</Words>
  <Application>Microsoft Office PowerPoint</Application>
  <PresentationFormat>Widescreen</PresentationFormat>
  <Paragraphs>392</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Cambria</vt:lpstr>
      <vt:lpstr>Courier New</vt:lpstr>
      <vt:lpstr>Project Review</vt:lpstr>
      <vt:lpstr>[PROJECT TITLE IN CAPITALS – MAX 2 LINES]</vt:lpstr>
      <vt:lpstr>Introduction &amp; Problem Statement</vt:lpstr>
      <vt:lpstr>Objectives &amp; Scope</vt:lpstr>
      <vt:lpstr>Literature Survey</vt:lpstr>
      <vt:lpstr>Proposed System &amp; Methodology</vt:lpstr>
      <vt:lpstr>System Architecture</vt:lpstr>
      <vt:lpstr>Hardware &amp; Software Requirements</vt:lpstr>
      <vt:lpstr>Dataset / Data Understanding</vt:lpstr>
      <vt:lpstr>Data Preprocessing &amp; Exploratory Analysis</vt:lpstr>
      <vt:lpstr>Module-wise Description</vt:lpstr>
      <vt:lpstr>Algorithms &amp; Technologies Used</vt:lpstr>
      <vt:lpstr>Implementation / Model Building</vt:lpstr>
      <vt:lpstr>Working Prototype / Output Screens</vt:lpstr>
      <vt:lpstr>Results &amp; Performance Comparison</vt:lpstr>
      <vt:lpstr>Analysis &amp; Key Findings</vt:lpstr>
      <vt:lpstr>Testing &amp; Validation</vt:lpstr>
      <vt:lpstr>Challenges &amp; Limitations</vt:lpstr>
      <vt:lpstr>Conclusion</vt:lpstr>
      <vt:lpstr>Future Scope &amp; Applications</vt:lpstr>
      <vt:lpstr>Team Contribution</vt:lpstr>
      <vt:lpstr>References</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Project Presentation Template</dc:title>
  <dc:subject>PptxGenJS Presentation</dc:subject>
  <dc:creator>PptxGenJS</dc:creator>
  <cp:lastModifiedBy>SAI  KRISHNA</cp:lastModifiedBy>
  <cp:revision>2</cp:revision>
  <dcterms:created xsi:type="dcterms:W3CDTF">2026-10-27T09:31:48Z</dcterms:created>
  <dcterms:modified xsi:type="dcterms:W3CDTF">2026-10-27T09:36:49Z</dcterms:modified>
</cp:coreProperties>
</file>